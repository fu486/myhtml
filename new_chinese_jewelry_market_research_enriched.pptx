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600" b="1">
                <a:solidFill>
                  <a:srgbClr val="B18B45"/>
                </a:solidFill>
                <a:latin typeface="Microsoft YaHei"/>
              </a:rPr>
              <a:t>硕士阶段设计实践前期调研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1143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</a:rPr>
              <a:t>新中式国风首饰
市场与设计趋势研究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3154680"/>
            <a:ext cx="82296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800" b="0">
                <a:solidFill>
                  <a:srgbClr val="E7E0D0"/>
                </a:solidFill>
                <a:latin typeface="Microsoft YaHei"/>
              </a:rPr>
              <a:t>流行资讯｜元素采集｜目标市场｜代表品牌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892040"/>
            <a:ext cx="850392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YaHei"/>
              </a:rPr>
              <a:t>研究边界：本阶段只研究新中式首饰市场与设计语言
暂不进入论文的具体纹样和毕业设计题材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698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000" b="0">
                <a:solidFill>
                  <a:srgbClr val="6A6760"/>
                </a:solidFill>
                <a:latin typeface="Microsoft YaHei"/>
              </a:rPr>
              <a:t>服装与服饰设计专业 · 实践调研方案 · 2025—2026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960120"/>
            <a:ext cx="438912" cy="438912"/>
          </a:xfrm>
          <a:prstGeom prst="ellipse">
            <a:avLst/>
          </a:prstGeom>
          <a:noFill/>
          <a:ln w="2032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98480" y="868680"/>
            <a:ext cx="658368" cy="658368"/>
          </a:xfrm>
          <a:prstGeom prst="ellipse">
            <a:avLst/>
          </a:prstGeom>
          <a:noFill/>
          <a:ln w="20320">
            <a:solidFill>
              <a:srgbClr val="406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12680" y="5120640"/>
            <a:ext cx="347472" cy="347472"/>
          </a:xfrm>
          <a:prstGeom prst="ellipse">
            <a:avLst/>
          </a:prstGeom>
          <a:noFill/>
          <a:ln w="20320">
            <a:solidFill>
              <a:srgbClr val="97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17320" y="5212080"/>
            <a:ext cx="256032" cy="256032"/>
          </a:xfrm>
          <a:prstGeom prst="ellipse">
            <a:avLst/>
          </a:prstGeom>
          <a:noFill/>
          <a:ln w="2032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01 研究定位与边界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先证明“新中式首饰”方向具有现实市场基础，再进入后续题材研究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34747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417320"/>
            <a:ext cx="73152" cy="42519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563624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40685B"/>
                </a:solidFill>
                <a:latin typeface="Microsoft YaHei"/>
              </a:rPr>
              <a:t>本次研究对象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1984248"/>
            <a:ext cx="3108960" cy="35387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新中式国风首饰的市场现状、设计趋势、消费者、价格、渠道及品牌策略。</a:t>
            </a:r>
          </a:p>
        </p:txBody>
      </p:sp>
      <p:sp>
        <p:nvSpPr>
          <p:cNvPr id="16" name="Oval 15"/>
          <p:cNvSpPr/>
          <p:nvPr/>
        </p:nvSpPr>
        <p:spPr>
          <a:xfrm>
            <a:off x="3803904" y="158191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43400" y="1417320"/>
            <a:ext cx="34747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1417320"/>
            <a:ext cx="73152" cy="42519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1563624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本次不讨论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1984248"/>
            <a:ext cx="3108960" cy="35387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不分析论文的具体纹样题材，不提前论证毕业设计造型方案。</a:t>
            </a:r>
          </a:p>
        </p:txBody>
      </p:sp>
      <p:sp>
        <p:nvSpPr>
          <p:cNvPr id="21" name="Oval 20"/>
          <p:cNvSpPr/>
          <p:nvPr/>
        </p:nvSpPr>
        <p:spPr>
          <a:xfrm>
            <a:off x="7507224" y="158191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1417320"/>
            <a:ext cx="34747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1417320"/>
            <a:ext cx="73152" cy="425196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1563624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B18B45"/>
                </a:solidFill>
                <a:latin typeface="Microsoft YaHei"/>
              </a:rPr>
              <a:t>研究目的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1984248"/>
            <a:ext cx="3108960" cy="35387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形成可验证的市场与设计依据，为后续确定产品类型、材料、工艺、价格与佩戴场景服务。</a:t>
            </a:r>
          </a:p>
        </p:txBody>
      </p:sp>
      <p:sp>
        <p:nvSpPr>
          <p:cNvPr id="26" name="Oval 25"/>
          <p:cNvSpPr/>
          <p:nvPr/>
        </p:nvSpPr>
        <p:spPr>
          <a:xfrm>
            <a:off x="11210544" y="1581912"/>
            <a:ext cx="109728" cy="109728"/>
          </a:xfrm>
          <a:prstGeom prst="ellipse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02 核心研究问题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四个板块对应四类证据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3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94360" y="146304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  <a:gridCol w="4572000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板块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需要回答的问题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主要证据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流行资讯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全球与中国首饰趋势发生了什么？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政策、行业报告、秀场资料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元素采集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新中式设计由哪些视觉和工艺变量组成？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产品编码、图像样本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目标市场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谁会购买、为何购买、能接受什么？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问卷、访谈、门店观察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品牌研究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不同品牌如何转化传统文化？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年报、官网、门店与产品样本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03 研究方法与证据等级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避免把“网络印象”当成市场事实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37160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371600"/>
            <a:ext cx="73152" cy="438912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517904"/>
            <a:ext cx="30632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40685B"/>
                </a:solidFill>
                <a:latin typeface="Microsoft YaHei"/>
              </a:rPr>
              <a:t>A｜一级证据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1938528"/>
            <a:ext cx="3063240" cy="36758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政府政策原文
国家统计局
行业协会
上市公司年报
国际权威行业报告</a:t>
            </a:r>
          </a:p>
        </p:txBody>
      </p:sp>
      <p:sp>
        <p:nvSpPr>
          <p:cNvPr id="16" name="Oval 15"/>
          <p:cNvSpPr/>
          <p:nvPr/>
        </p:nvSpPr>
        <p:spPr>
          <a:xfrm>
            <a:off x="3758184" y="153619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137160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1371600"/>
            <a:ext cx="73152" cy="438912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1517904"/>
            <a:ext cx="30632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B18B45"/>
                </a:solidFill>
                <a:latin typeface="Microsoft YaHei"/>
              </a:rPr>
              <a:t>B｜可复核样本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1938528"/>
            <a:ext cx="3063240" cy="36758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品牌官网与旗舰店
秀场图像编码
固定日期的商品采样
线下门店观察记录</a:t>
            </a:r>
          </a:p>
        </p:txBody>
      </p:sp>
      <p:sp>
        <p:nvSpPr>
          <p:cNvPr id="21" name="Oval 20"/>
          <p:cNvSpPr/>
          <p:nvPr/>
        </p:nvSpPr>
        <p:spPr>
          <a:xfrm>
            <a:off x="7507224" y="1536192"/>
            <a:ext cx="109728" cy="109728"/>
          </a:xfrm>
          <a:prstGeom prst="ellipse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38160" y="137160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371600"/>
            <a:ext cx="73152" cy="438912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1517904"/>
            <a:ext cx="30632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C｜用户证据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1938528"/>
            <a:ext cx="3063240" cy="36758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不少于150份问卷
8—12次深度访谈
6—10家门店观察
试戴与实物反馈</a:t>
            </a:r>
          </a:p>
        </p:txBody>
      </p:sp>
      <p:sp>
        <p:nvSpPr>
          <p:cNvPr id="26" name="Oval 25"/>
          <p:cNvSpPr/>
          <p:nvPr/>
        </p:nvSpPr>
        <p:spPr>
          <a:xfrm>
            <a:off x="11256264" y="153619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925312"/>
            <a:ext cx="1069848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200" b="1">
                <a:solidFill>
                  <a:srgbClr val="972D27"/>
                </a:solidFill>
                <a:latin typeface="Microsoft YaHei"/>
              </a:rPr>
              <a:t>原则：平台热度≠销量；行业总量≠新中式细分市场；品牌宣传语≠消费者真实接受度。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1069848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</a:rPr>
              <a:t>第一板块｜流行资讯分析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80360"/>
            <a:ext cx="941832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700" b="0">
                <a:solidFill>
                  <a:srgbClr val="E7E0D0"/>
                </a:solidFill>
                <a:latin typeface="Microsoft YaHei"/>
              </a:rPr>
              <a:t>从全球首饰趋势进入中国新中式首饰语境</a:t>
            </a:r>
          </a:p>
        </p:txBody>
      </p:sp>
      <p:sp>
        <p:nvSpPr>
          <p:cNvPr id="5" name="Rectangle 4"/>
          <p:cNvSpPr/>
          <p:nvPr/>
        </p:nvSpPr>
        <p:spPr>
          <a:xfrm>
            <a:off x="5074920" y="3794760"/>
            <a:ext cx="2011680" cy="4572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914400"/>
            <a:ext cx="384048" cy="384048"/>
          </a:xfrm>
          <a:prstGeom prst="ellipse">
            <a:avLst/>
          </a:prstGeom>
          <a:noFill/>
          <a:ln w="1905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98480" y="1234440"/>
            <a:ext cx="256032" cy="256032"/>
          </a:xfrm>
          <a:prstGeom prst="ellipse">
            <a:avLst/>
          </a:prstGeom>
          <a:noFill/>
          <a:ln w="19050">
            <a:solidFill>
              <a:srgbClr val="97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966960" y="4983480"/>
            <a:ext cx="502920" cy="502920"/>
          </a:xfrm>
          <a:prstGeom prst="ellipse">
            <a:avLst/>
          </a:prstGeom>
          <a:noFill/>
          <a:ln w="19050">
            <a:solidFill>
              <a:srgbClr val="406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8760" y="5166360"/>
            <a:ext cx="219456" cy="219456"/>
          </a:xfrm>
          <a:prstGeom prst="ellipse">
            <a:avLst/>
          </a:prstGeom>
          <a:noFill/>
          <a:ln w="1905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62472" y="3840480"/>
            <a:ext cx="22860" cy="658368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amond 10"/>
          <p:cNvSpPr/>
          <p:nvPr/>
        </p:nvSpPr>
        <p:spPr>
          <a:xfrm>
            <a:off x="5870448" y="4416552"/>
            <a:ext cx="411480" cy="411480"/>
          </a:xfrm>
          <a:prstGeom prst="diamond">
            <a:avLst/>
          </a:prstGeom>
          <a:noFill/>
          <a:ln w="1905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04 全球首饰市场：高金价与价值审视并存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宏观信息用于交代消费环境，不直接等同于新中式趋势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10789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720" b="0">
                <a:solidFill>
                  <a:srgbClr val="6A6760"/>
                </a:solidFill>
                <a:latin typeface="Microsoft YaHei"/>
              </a:rPr>
              <a:t>资料来源：World Gold Council, Gold Demand Trends, https://www.gold.org/goldhub/research/gold-demand-trends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417320"/>
            <a:ext cx="34747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1417320"/>
            <a:ext cx="73152" cy="416052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1563624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B18B45"/>
                </a:solidFill>
                <a:latin typeface="Microsoft YaHei"/>
              </a:rPr>
              <a:t>黄金首饰需求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1984248"/>
            <a:ext cx="3108960" cy="34472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世界黄金协会《Gold Demand Trends 2024》显示：全球金饰消费量约1,877吨，同比下降约11%。高金价抑制重量需求。</a:t>
            </a:r>
          </a:p>
        </p:txBody>
      </p:sp>
      <p:sp>
        <p:nvSpPr>
          <p:cNvPr id="17" name="Oval 16"/>
          <p:cNvSpPr/>
          <p:nvPr/>
        </p:nvSpPr>
        <p:spPr>
          <a:xfrm>
            <a:off x="3803904" y="1581912"/>
            <a:ext cx="109728" cy="109728"/>
          </a:xfrm>
          <a:prstGeom prst="ellipse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43400" y="1417320"/>
            <a:ext cx="34747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417320"/>
            <a:ext cx="73152" cy="416052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1563624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40685B"/>
                </a:solidFill>
                <a:latin typeface="Microsoft YaHei"/>
              </a:rPr>
              <a:t>消费逻辑变化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1984248"/>
            <a:ext cx="3108960" cy="34472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消费者在价格压力下更关注设计差异、佩戴频率、文化意义与长期价值。小克重、设计化与可叠戴产品更值得观察。</a:t>
            </a:r>
          </a:p>
        </p:txBody>
      </p:sp>
      <p:sp>
        <p:nvSpPr>
          <p:cNvPr id="22" name="Oval 21"/>
          <p:cNvSpPr/>
          <p:nvPr/>
        </p:nvSpPr>
        <p:spPr>
          <a:xfrm>
            <a:off x="7507224" y="158191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0" y="1417320"/>
            <a:ext cx="34747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1417320"/>
            <a:ext cx="73152" cy="416052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7888" y="1563624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汇报中的用法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1984248"/>
            <a:ext cx="3108960" cy="34472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用“需求重量下降”说明行业压力；再讨论设计与文化价值如何帮助产品摆脱单纯按克比较。不可推导为新中式销量增长。</a:t>
            </a:r>
          </a:p>
        </p:txBody>
      </p:sp>
      <p:sp>
        <p:nvSpPr>
          <p:cNvPr id="27" name="Oval 26"/>
          <p:cNvSpPr/>
          <p:nvPr/>
        </p:nvSpPr>
        <p:spPr>
          <a:xfrm>
            <a:off x="11210544" y="158191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05 2025全球时尚环境：谨慎消费与差异化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品牌需要给消费者更清楚的购买理由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10789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720" b="0">
                <a:solidFill>
                  <a:srgbClr val="6A6760"/>
                </a:solidFill>
                <a:latin typeface="Microsoft YaHei"/>
              </a:rPr>
              <a:t>资料来源：McKinsey &amp; BoF, The State of Fashion 2025, https://www.mckinsey.com/industries/retail/our-insights/state-of-fashion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46304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232220"/>
                </a:solidFill>
                <a:latin typeface="Microsoft YaHei"/>
              </a:defRPr>
            </a:pPr>
            <a:r>
              <a:t>•  《The State of Fashion 2025》将低增长、消费谨慎和价值敏感列为行业重要背景。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232220"/>
                </a:solidFill>
                <a:latin typeface="Microsoft YaHei"/>
              </a:defRPr>
            </a:pPr>
            <a:r>
              <a:t>•  消费者更加比较价格、品质、耐用性、品牌故事和产品差异。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232220"/>
                </a:solidFill>
                <a:latin typeface="Microsoft YaHei"/>
              </a:defRPr>
            </a:pPr>
            <a:r>
              <a:t>•  首饰研究不能只描述“造型好看”，还要说明材料、工艺、使用场景和文化价值。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232220"/>
                </a:solidFill>
                <a:latin typeface="Microsoft YaHei"/>
              </a:defRPr>
            </a:pPr>
            <a:r>
              <a:t>•  对新中式首饰的启示：文化叙事必须转化为可感知的设计价值，而不是只贴传统符号。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06 2025—2026秀场观察方向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建议用统一编码法观察四大时装周，而不是拼贴图片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10789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720" b="0">
                <a:solidFill>
                  <a:srgbClr val="6A6760"/>
                </a:solidFill>
                <a:latin typeface="Microsoft YaHei"/>
              </a:rPr>
              <a:t>资料来源：Vogue Runway，2025 S/S、2025 A/W、2026 S/S秀场资料，https://www.vogue.com/fashion-shows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8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94360" y="1417320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931920"/>
                <a:gridCol w="5120640"/>
              </a:tblGrid>
              <a:tr h="75438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趋势变量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可观察表现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对首饰设计的启示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雕塑感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大耳饰、宽手镯、立体金属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强化轮廓和服装整体关系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胸针回归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胸针、领饰、服装饰件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扩展耳环项链之外的品类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叠戴与挂件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多层项链、护符、可组合坠饰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支持个性化和模块化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手工痕迹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锤纹、不规则、编结、雕刻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突出材料触感与工艺叙事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历史风格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复古金属、装饰主义、浪漫主义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传统资源可以当代化重组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07 全球流行要点：情感化、个性化、可组合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趋势结论应由跨平台证据共同支持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10789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720" b="0">
                <a:solidFill>
                  <a:srgbClr val="6A6760"/>
                </a:solidFill>
                <a:latin typeface="Microsoft YaHei"/>
              </a:rPr>
              <a:t>资料来源：Pinterest Predicts 2025，https://business.pinterest.com/pinterest-predicts/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417320"/>
            <a:ext cx="33375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1417320"/>
            <a:ext cx="73152" cy="42519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1563624"/>
            <a:ext cx="2971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情感意义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1984248"/>
            <a:ext cx="2971800" cy="35387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首饰承载纪念、祝愿、身份与个人故事。消费者购买的不只是材料，也是可讲述的意义。</a:t>
            </a:r>
          </a:p>
        </p:txBody>
      </p:sp>
      <p:sp>
        <p:nvSpPr>
          <p:cNvPr id="17" name="Oval 16"/>
          <p:cNvSpPr/>
          <p:nvPr/>
        </p:nvSpPr>
        <p:spPr>
          <a:xfrm>
            <a:off x="3712464" y="158191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34840" y="1417320"/>
            <a:ext cx="33375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1417320"/>
            <a:ext cx="73152" cy="42519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6007" y="1563624"/>
            <a:ext cx="2971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40685B"/>
                </a:solidFill>
                <a:latin typeface="Microsoft YaHei"/>
              </a:rPr>
              <a:t>组合能力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7" y="1984248"/>
            <a:ext cx="2971800" cy="35387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吊坠、叠戴、可拆卸和模块化结构，允许消费者参与搭配，增加使用频率。</a:t>
            </a:r>
          </a:p>
        </p:txBody>
      </p:sp>
      <p:sp>
        <p:nvSpPr>
          <p:cNvPr id="22" name="Oval 21"/>
          <p:cNvSpPr/>
          <p:nvPr/>
        </p:nvSpPr>
        <p:spPr>
          <a:xfrm>
            <a:off x="7461504" y="158191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83879" y="1417320"/>
            <a:ext cx="33375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83879" y="1417320"/>
            <a:ext cx="73152" cy="425196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5048" y="1563624"/>
            <a:ext cx="2971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B18B45"/>
                </a:solidFill>
                <a:latin typeface="Microsoft YaHei"/>
              </a:rPr>
              <a:t>社交传播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5048" y="1984248"/>
            <a:ext cx="2971800" cy="35387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具备清晰轮廓、识别性细节和故事标题的产品，更适合短视频与图像平台传播。</a:t>
            </a:r>
          </a:p>
        </p:txBody>
      </p:sp>
      <p:sp>
        <p:nvSpPr>
          <p:cNvPr id="27" name="Oval 26"/>
          <p:cNvSpPr/>
          <p:nvPr/>
        </p:nvSpPr>
        <p:spPr>
          <a:xfrm>
            <a:off x="11210544" y="1581912"/>
            <a:ext cx="109728" cy="109728"/>
          </a:xfrm>
          <a:prstGeom prst="ellipse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08 全球资讯采集执行方案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把“看趋势”转化为可重复的研究过程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10789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720" b="0">
                <a:solidFill>
                  <a:srgbClr val="6A6760"/>
                </a:solidFill>
                <a:latin typeface="Microsoft YaHei"/>
              </a:rPr>
              <a:t>资料来源：Vogue Runway，2025 S/S、2025 A/W、2026 S/S秀场资料，https://www.vogue.com/fashion-shows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10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1463040"/>
          <a:ext cx="106070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8138160"/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项目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执行标准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2025春夏、2025秋冬、2026春夏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范围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巴黎、米兰、伦敦、纽约四大时装周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样本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12—15个品牌，不少于100套造型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品类、尺寸、材质、色彩、结构、佩戴部位、文化倾向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输出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频次表、占比图、代表案例页、趋势关键词矩阵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68680" y="5897880"/>
            <a:ext cx="104241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100" b="1">
                <a:solidFill>
                  <a:srgbClr val="972D27"/>
                </a:solidFill>
                <a:latin typeface="Microsoft YaHei"/>
              </a:rPr>
              <a:t>必须保留截图来源、品牌、季节、发布日期与访问日期，不能把编辑选择误写成全行业比例。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09 2025年政策环境：消费与文化产品供给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政策是宏观支撑，不应写成“国家专门扶持新中式首饰”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10789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720" b="0">
                <a:solidFill>
                  <a:srgbClr val="6A6760"/>
                </a:solidFill>
                <a:latin typeface="Microsoft YaHei"/>
              </a:rPr>
              <a:t>资料来源：中共中央办公厅、国务院办公厅：《提振消费专项行动方案》，2025-03，中国政府网 https://www.gov.cn/zhengce/202503/content_7013809.htm；国务院办公厅：《关于进一步培育新增长点繁荣文化和旅游消费的若干措施》，国办发〔2025〕2号，中国政府网 https://www.gov.cn/zhengce/content/202501/content_6999915.htm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11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37160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1371600"/>
            <a:ext cx="73152" cy="443484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1517904"/>
            <a:ext cx="4937759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《提振消费专项行动方案》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1938528"/>
            <a:ext cx="4937759" cy="37216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发布：中共中央办公厅、国务院办公厅，2025年3月。
可用于论证：扩大消费、创新消费场景、改善优质消费品供给，为文化内容与消费品结合提供宏观环境。</a:t>
            </a:r>
          </a:p>
        </p:txBody>
      </p:sp>
      <p:sp>
        <p:nvSpPr>
          <p:cNvPr id="17" name="Oval 16"/>
          <p:cNvSpPr/>
          <p:nvPr/>
        </p:nvSpPr>
        <p:spPr>
          <a:xfrm>
            <a:off x="5632704" y="153619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137160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371600"/>
            <a:ext cx="73152" cy="443484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1517904"/>
            <a:ext cx="4937759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40685B"/>
                </a:solidFill>
                <a:latin typeface="Microsoft YaHei"/>
              </a:rPr>
              <a:t>国办发〔2025〕2号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1938528"/>
            <a:ext cx="4937759" cy="37216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《关于进一步培育新增长点繁荣文化和旅游消费的若干措施》，2025年1月。
可用于论证：丰富文化产品供给、发展文化创意产品和国货潮品，推动传统文化进入现代消费场景。</a:t>
            </a:r>
          </a:p>
        </p:txBody>
      </p:sp>
      <p:sp>
        <p:nvSpPr>
          <p:cNvPr id="22" name="Oval 21"/>
          <p:cNvSpPr/>
          <p:nvPr/>
        </p:nvSpPr>
        <p:spPr>
          <a:xfrm>
            <a:off x="11210544" y="153619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10 政策材料的规范表述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避免扩大解释，提高汇报严谨性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463040"/>
            <a:ext cx="73152" cy="429768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1609344"/>
            <a:ext cx="4754879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不建议这样写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029968"/>
            <a:ext cx="4754879" cy="35844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“2025年国家出台政策，大力支持新中式首饰产业。”
问题：政策原文没有把新中式首饰单独列为产业，属于过度推导。</a:t>
            </a:r>
          </a:p>
        </p:txBody>
      </p:sp>
      <p:sp>
        <p:nvSpPr>
          <p:cNvPr id="16" name="Oval 15"/>
          <p:cNvSpPr/>
          <p:nvPr/>
        </p:nvSpPr>
        <p:spPr>
          <a:xfrm>
            <a:off x="5541264" y="162763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463040"/>
            <a:ext cx="73152" cy="429768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1609344"/>
            <a:ext cx="4754879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40685B"/>
                </a:solidFill>
                <a:latin typeface="Microsoft YaHei"/>
              </a:rPr>
              <a:t>建议这样写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029968"/>
            <a:ext cx="4754879" cy="35844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“2025年消费与文化政策强调优质消费供给、文化创意产品和国货潮品，为传统文化资源向当代首饰产品转化提供了宏观环境。”</a:t>
            </a:r>
          </a:p>
        </p:txBody>
      </p:sp>
      <p:sp>
        <p:nvSpPr>
          <p:cNvPr id="21" name="Oval 20"/>
          <p:cNvSpPr/>
          <p:nvPr/>
        </p:nvSpPr>
        <p:spPr>
          <a:xfrm>
            <a:off x="11119104" y="162763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11 中国黄金消费：市场体量与结构变化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行业总量用于判断环境，不能直接代表新中式首饰销量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10789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720" b="0">
                <a:solidFill>
                  <a:srgbClr val="6A6760"/>
                </a:solidFill>
                <a:latin typeface="Microsoft YaHei"/>
              </a:rPr>
              <a:t>资料来源：中国黄金协会：2024年及2025年上半年我国黄金产量、消费量统计，https://www.cngold.org.cn/（站内检索报告标题）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325880"/>
            <a:ext cx="47548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500" b="1">
                <a:solidFill>
                  <a:srgbClr val="232220"/>
                </a:solidFill>
                <a:latin typeface="Microsoft YaHei"/>
              </a:rPr>
              <a:t>黄金首饰消费量（吨）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874519"/>
            <a:ext cx="9144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00" b="1">
                <a:solidFill>
                  <a:srgbClr val="232220"/>
                </a:solidFill>
                <a:latin typeface="Microsoft YaHei"/>
              </a:rPr>
              <a:t>2023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54480" y="1874519"/>
            <a:ext cx="3617629" cy="32004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1856231"/>
            <a:ext cx="10058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00" b="1">
                <a:solidFill>
                  <a:srgbClr val="40685B"/>
                </a:solidFill>
                <a:latin typeface="Microsoft YaHei"/>
              </a:rPr>
              <a:t>706.48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17520"/>
            <a:ext cx="9144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00" b="1">
                <a:solidFill>
                  <a:srgbClr val="232220"/>
                </a:solidFill>
                <a:latin typeface="Microsoft YaHei"/>
              </a:rPr>
              <a:t>2024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54480" y="3017520"/>
            <a:ext cx="2724282" cy="32004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2999232"/>
            <a:ext cx="10058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00" b="1">
                <a:solidFill>
                  <a:srgbClr val="972D27"/>
                </a:solidFill>
                <a:latin typeface="Microsoft YaHei"/>
              </a:rPr>
              <a:t>532.02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1371600"/>
            <a:ext cx="47091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20840" y="1371600"/>
            <a:ext cx="73152" cy="1874519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22007" y="1517904"/>
            <a:ext cx="43434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B18B45"/>
                </a:solidFill>
                <a:latin typeface="Microsoft YaHei"/>
              </a:rPr>
              <a:t>2024变化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7" y="1938528"/>
            <a:ext cx="4343400" cy="11612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中国黄金协会数据：2024年黄金首饰消费量532.02吨，同比下降24.69%。</a:t>
            </a:r>
          </a:p>
        </p:txBody>
      </p:sp>
      <p:sp>
        <p:nvSpPr>
          <p:cNvPr id="24" name="Oval 23"/>
          <p:cNvSpPr/>
          <p:nvPr/>
        </p:nvSpPr>
        <p:spPr>
          <a:xfrm>
            <a:off x="11119104" y="1536192"/>
            <a:ext cx="109728" cy="109728"/>
          </a:xfrm>
          <a:prstGeom prst="ellipse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720840" y="3474720"/>
            <a:ext cx="47091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20840" y="3474720"/>
            <a:ext cx="73152" cy="205740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22007" y="3621024"/>
            <a:ext cx="43434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2025上半年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2007" y="4041648"/>
            <a:ext cx="4343400" cy="1344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黄金首饰消费量199.826吨，同比下降26.00%；同期金条及金币消费增长。高金价推动消费结构变化。</a:t>
            </a:r>
          </a:p>
        </p:txBody>
      </p:sp>
      <p:sp>
        <p:nvSpPr>
          <p:cNvPr id="29" name="Oval 28"/>
          <p:cNvSpPr/>
          <p:nvPr/>
        </p:nvSpPr>
        <p:spPr>
          <a:xfrm>
            <a:off x="11119104" y="363931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715000"/>
            <a:ext cx="10698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200" b="1">
                <a:solidFill>
                  <a:srgbClr val="232220"/>
                </a:solidFill>
                <a:latin typeface="Microsoft YaHei"/>
              </a:rPr>
              <a:t>解释：克重需求承压，不代表设计型产品没有机会；应继续调查“小克重、强设计、文化溢价”是否被目标消费者接受。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12 可继续更新的国家统计口径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建立2021—2025连续数据，避免引用自媒体市场规模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10789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720" b="0">
                <a:solidFill>
                  <a:srgbClr val="6A6760"/>
                </a:solidFill>
                <a:latin typeface="Microsoft YaHei"/>
              </a:rPr>
              <a:t>资料来源：国家统计局：社会消费品零售总额月度/年度数据，“金银珠宝类”，https://www.stats.gov.cn/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2220"/>
                </a:solidFill>
                <a:latin typeface="Microsoft YaHei"/>
              </a:defRPr>
            </a:pPr>
            <a:r>
              <a:t>•  进入国家统计局“社会消费品零售总额”月度或年度发布页面。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2220"/>
                </a:solidFill>
                <a:latin typeface="Microsoft YaHei"/>
              </a:defRPr>
            </a:pPr>
            <a:r>
              <a:t>•  检索“限额以上单位金银珠宝类商品零售额”及同比增速。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2220"/>
                </a:solidFill>
                <a:latin typeface="Microsoft YaHei"/>
              </a:defRPr>
            </a:pPr>
            <a:r>
              <a:t>•  制作2021—2025年度折线图，并与社会消费品零售总额增速对照。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2220"/>
                </a:solidFill>
                <a:latin typeface="Microsoft YaHei"/>
              </a:defRPr>
            </a:pPr>
            <a:r>
              <a:t>•  报告中注明：金银珠宝类是行业总体口径，不能直接等同于新中式细分市场。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2220"/>
                </a:solidFill>
                <a:latin typeface="Microsoft YaHei"/>
              </a:defRPr>
            </a:pPr>
            <a:r>
              <a:t>•  如使用2026月度数据，必须注明“截至某月”，不可与完整年度直接比较。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13 新中式首饰的工作定义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用可操作标准区分“新中式设计”与“传统符号贴附”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325880"/>
            <a:ext cx="10058400" cy="10515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2000" b="1">
                <a:solidFill>
                  <a:srgbClr val="972D27"/>
                </a:solidFill>
                <a:latin typeface="Microsoft YaHei"/>
              </a:rPr>
              <a:t>新中式首饰是以中国传统文化中的造型、色彩、材料、工艺、意境或价值观为设计资源，通过现代造型语言、当代工艺和现代佩戴方式进行转化的首饰产品。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80360"/>
            <a:ext cx="33832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880360"/>
            <a:ext cx="73152" cy="246888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026664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40685B"/>
                </a:solidFill>
                <a:latin typeface="Microsoft YaHei"/>
              </a:rPr>
              <a:t>文化来源可识别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447288"/>
            <a:ext cx="3017520" cy="1755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能够说明元素来自何处，而非笼统使用“东方”“国风”等营销词。</a:t>
            </a:r>
          </a:p>
        </p:txBody>
      </p:sp>
      <p:sp>
        <p:nvSpPr>
          <p:cNvPr id="17" name="Oval 16"/>
          <p:cNvSpPr/>
          <p:nvPr/>
        </p:nvSpPr>
        <p:spPr>
          <a:xfrm>
            <a:off x="3803904" y="304495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07408" y="2880360"/>
            <a:ext cx="33832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07408" y="2880360"/>
            <a:ext cx="73152" cy="246888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8576" y="3026664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B18B45"/>
                </a:solidFill>
                <a:latin typeface="Microsoft YaHei"/>
              </a:rPr>
              <a:t>完成现代转化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3447288"/>
            <a:ext cx="3017520" cy="1755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传统资源被重新组织为比例、结构、材料、色彩或佩戴方式。</a:t>
            </a:r>
          </a:p>
        </p:txBody>
      </p:sp>
      <p:sp>
        <p:nvSpPr>
          <p:cNvPr id="22" name="Oval 21"/>
          <p:cNvSpPr/>
          <p:nvPr/>
        </p:nvSpPr>
        <p:spPr>
          <a:xfrm>
            <a:off x="7479792" y="3044952"/>
            <a:ext cx="109728" cy="109728"/>
          </a:xfrm>
          <a:prstGeom prst="ellipse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83296" y="2880360"/>
            <a:ext cx="33832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83296" y="2880360"/>
            <a:ext cx="73152" cy="246888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84464" y="3026664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适合当代生活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4464" y="3447288"/>
            <a:ext cx="3017520" cy="1755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具有可佩戴性、舒适度、搭配性和明确消费场景。</a:t>
            </a:r>
          </a:p>
        </p:txBody>
      </p:sp>
      <p:sp>
        <p:nvSpPr>
          <p:cNvPr id="27" name="Oval 26"/>
          <p:cNvSpPr/>
          <p:nvPr/>
        </p:nvSpPr>
        <p:spPr>
          <a:xfrm>
            <a:off x="11155680" y="304495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14 新中式首饰发展的四个驱动因素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371600"/>
            <a:ext cx="26060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371600"/>
            <a:ext cx="73152" cy="438912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517904"/>
            <a:ext cx="22402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文化认同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1938528"/>
            <a:ext cx="2240280" cy="36758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传统文化教育、博物馆传播、非遗关注及国货认同提高了文化产品可见度。</a:t>
            </a:r>
          </a:p>
        </p:txBody>
      </p:sp>
      <p:sp>
        <p:nvSpPr>
          <p:cNvPr id="15" name="Oval 14"/>
          <p:cNvSpPr/>
          <p:nvPr/>
        </p:nvSpPr>
        <p:spPr>
          <a:xfrm>
            <a:off x="2935224" y="153619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01568" y="1371600"/>
            <a:ext cx="26060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371600"/>
            <a:ext cx="73152" cy="438912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2736" y="1517904"/>
            <a:ext cx="22402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40685B"/>
                </a:solidFill>
                <a:latin typeface="Microsoft YaHei"/>
              </a:rPr>
              <a:t>服装场景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2736" y="1938528"/>
            <a:ext cx="2240280" cy="36758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新中式服装、通勤改良中式与节庆穿搭带来配饰搭配需求。</a:t>
            </a:r>
          </a:p>
        </p:txBody>
      </p:sp>
      <p:sp>
        <p:nvSpPr>
          <p:cNvPr id="20" name="Oval 19"/>
          <p:cNvSpPr/>
          <p:nvPr/>
        </p:nvSpPr>
        <p:spPr>
          <a:xfrm>
            <a:off x="5696712" y="153619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63056" y="1371600"/>
            <a:ext cx="26060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1371600"/>
            <a:ext cx="73152" cy="438912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1517904"/>
            <a:ext cx="22402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B18B45"/>
                </a:solidFill>
                <a:latin typeface="Microsoft YaHei"/>
              </a:rPr>
              <a:t>平台传播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1938528"/>
            <a:ext cx="2240280" cy="36758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短视频和图像平台强化“造型辨识度”和“故事可讲述性”。</a:t>
            </a:r>
          </a:p>
        </p:txBody>
      </p:sp>
      <p:sp>
        <p:nvSpPr>
          <p:cNvPr id="25" name="Oval 24"/>
          <p:cNvSpPr/>
          <p:nvPr/>
        </p:nvSpPr>
        <p:spPr>
          <a:xfrm>
            <a:off x="8458200" y="1536192"/>
            <a:ext cx="109728" cy="109728"/>
          </a:xfrm>
          <a:prstGeom prst="ellipse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24544" y="1371600"/>
            <a:ext cx="26060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24544" y="1371600"/>
            <a:ext cx="73152" cy="438912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5712" y="1517904"/>
            <a:ext cx="22402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工艺价值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5712" y="1938528"/>
            <a:ext cx="2240280" cy="36758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传统工艺与贵金属、珐琅、珍珠等结合，使文化价值转为可感知品质。</a:t>
            </a:r>
          </a:p>
        </p:txBody>
      </p:sp>
      <p:sp>
        <p:nvSpPr>
          <p:cNvPr id="30" name="Oval 29"/>
          <p:cNvSpPr/>
          <p:nvPr/>
        </p:nvSpPr>
        <p:spPr>
          <a:xfrm>
            <a:off x="11219688" y="153619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1069848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</a:rPr>
              <a:t>第二板块｜流行元素采集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80360"/>
            <a:ext cx="941832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700" b="0">
                <a:solidFill>
                  <a:srgbClr val="E7E0D0"/>
                </a:solidFill>
                <a:latin typeface="Microsoft YaHei"/>
              </a:rPr>
              <a:t>建立新中式首饰元素数据库，不进入论文的具体纹样题材</a:t>
            </a:r>
          </a:p>
        </p:txBody>
      </p:sp>
      <p:sp>
        <p:nvSpPr>
          <p:cNvPr id="5" name="Rectangle 4"/>
          <p:cNvSpPr/>
          <p:nvPr/>
        </p:nvSpPr>
        <p:spPr>
          <a:xfrm>
            <a:off x="5074920" y="3794760"/>
            <a:ext cx="2011680" cy="4572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914400"/>
            <a:ext cx="384048" cy="384048"/>
          </a:xfrm>
          <a:prstGeom prst="ellipse">
            <a:avLst/>
          </a:prstGeom>
          <a:noFill/>
          <a:ln w="1905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98480" y="1234440"/>
            <a:ext cx="256032" cy="256032"/>
          </a:xfrm>
          <a:prstGeom prst="ellipse">
            <a:avLst/>
          </a:prstGeom>
          <a:noFill/>
          <a:ln w="19050">
            <a:solidFill>
              <a:srgbClr val="97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966960" y="4983480"/>
            <a:ext cx="502920" cy="502920"/>
          </a:xfrm>
          <a:prstGeom prst="ellipse">
            <a:avLst/>
          </a:prstGeom>
          <a:noFill/>
          <a:ln w="19050">
            <a:solidFill>
              <a:srgbClr val="406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8760" y="5166360"/>
            <a:ext cx="219456" cy="219456"/>
          </a:xfrm>
          <a:prstGeom prst="ellipse">
            <a:avLst/>
          </a:prstGeom>
          <a:noFill/>
          <a:ln w="1905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62472" y="3840480"/>
            <a:ext cx="22860" cy="658368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amond 10"/>
          <p:cNvSpPr/>
          <p:nvPr/>
        </p:nvSpPr>
        <p:spPr>
          <a:xfrm>
            <a:off x="5870448" y="4416552"/>
            <a:ext cx="411480" cy="411480"/>
          </a:xfrm>
          <a:prstGeom prst="diamond">
            <a:avLst/>
          </a:prstGeom>
          <a:noFill/>
          <a:ln w="1905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15 元素采集框架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从“找好看的图”升级为可统计的设计变量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18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94360" y="137160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961120"/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分类示例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造型来源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几何、建筑、自然、器物、文字、哲学意境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材料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金、银、铜、珍珠、玉石、珐琅、漆、陶瓷、丝线、现代材料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工艺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花丝、錾刻、珐琅、雕刻、锤揲、编结、螺钿、铸造、3D打印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色彩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金银色、朱红、玉石绿、青瓷色、漆黑、珍珠白、低饱和综合色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结构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对称/非对称、平面/立体、固定/可拆卸、单件/模块化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品类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耳饰、项链、戒指、手镯、胸针、发饰、服装饰件、包挂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16 造型元素：观察“如何转化”，不只记录“用了什么”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37160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371600"/>
            <a:ext cx="73152" cy="438912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517904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具象转化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1938528"/>
            <a:ext cx="3108960" cy="36758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保留对象辨识度，适合文化叙事；风险是形象直白、纪念品化。</a:t>
            </a:r>
          </a:p>
        </p:txBody>
      </p:sp>
      <p:sp>
        <p:nvSpPr>
          <p:cNvPr id="15" name="Oval 14"/>
          <p:cNvSpPr/>
          <p:nvPr/>
        </p:nvSpPr>
        <p:spPr>
          <a:xfrm>
            <a:off x="3803904" y="153619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43400" y="137160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371600"/>
            <a:ext cx="73152" cy="438912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1517904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40685B"/>
                </a:solidFill>
                <a:latin typeface="Microsoft YaHei"/>
              </a:rPr>
              <a:t>抽象转化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1938528"/>
            <a:ext cx="3108960" cy="36758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提取轮廓、节奏、比例和负形，更适合日常佩戴；需要说明文化依据。</a:t>
            </a:r>
          </a:p>
        </p:txBody>
      </p:sp>
      <p:sp>
        <p:nvSpPr>
          <p:cNvPr id="20" name="Oval 19"/>
          <p:cNvSpPr/>
          <p:nvPr/>
        </p:nvSpPr>
        <p:spPr>
          <a:xfrm>
            <a:off x="7507224" y="153619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0" y="137160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1371600"/>
            <a:ext cx="73152" cy="438912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1517904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B18B45"/>
                </a:solidFill>
                <a:latin typeface="Microsoft YaHei"/>
              </a:rPr>
              <a:t>结构转化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1938528"/>
            <a:ext cx="3108960" cy="36758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将窗棂、器物结构、建筑秩序等转为连接、开合、悬挂和模块关系，设计深度更高。</a:t>
            </a:r>
          </a:p>
        </p:txBody>
      </p:sp>
      <p:sp>
        <p:nvSpPr>
          <p:cNvPr id="25" name="Oval 24"/>
          <p:cNvSpPr/>
          <p:nvPr/>
        </p:nvSpPr>
        <p:spPr>
          <a:xfrm>
            <a:off x="11210544" y="1536192"/>
            <a:ext cx="109728" cy="109728"/>
          </a:xfrm>
          <a:prstGeom prst="ellipse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17 色彩与材料：同时记录视觉效果、成本和佩戴体验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20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46304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297680"/>
                <a:gridCol w="448056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观察重点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可能问题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金/银/铜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价值感、色温、表面处理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价格、氧化、重量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珍珠/玉石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东方识别度、光泽与触感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同质化、真假认知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珐琅/漆/陶瓷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颜色层次、工艺叙事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磕碰、修复和良率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丝线/编结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轻量、柔性、服装关联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耐久与清洁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现代材料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轻量、透明、低成本、结构自由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文化质感和环保解释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18 工艺元素：建立“传统工艺—当代表达”对应表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21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417320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114800"/>
                <a:gridCol w="4480560"/>
              </a:tblGrid>
              <a:tr h="75438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传统/现代工艺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可转化的视觉语言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调研记录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花丝、錾刻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线性、层次、细密纹理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工时、牢固度、成本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珐琅、漆艺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色块、光泽、综合色彩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色差、耐磨、修复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锤揲、铸造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体量、起伏、手工痕迹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重量、批量一致性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编结、织物结合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柔性连接、可替换结构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皮肤接触、清洁、耐久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激光切割、3D打印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复杂结构、轻量化、快速打样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材料质感与后处理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19 产品类型：从珠宝单品扩展到服饰整体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体现服装与服饰设计专业优势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22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37160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371600"/>
            <a:ext cx="73152" cy="438912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517904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40685B"/>
                </a:solidFill>
                <a:latin typeface="Microsoft YaHei"/>
              </a:rPr>
              <a:t>身体首饰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1938528"/>
            <a:ext cx="3108960" cy="36758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耳饰、项链、戒指、手镯。记录重量、接触方式、活动时摆动和佩戴时长。</a:t>
            </a:r>
          </a:p>
        </p:txBody>
      </p:sp>
      <p:sp>
        <p:nvSpPr>
          <p:cNvPr id="16" name="Oval 15"/>
          <p:cNvSpPr/>
          <p:nvPr/>
        </p:nvSpPr>
        <p:spPr>
          <a:xfrm>
            <a:off x="3803904" y="153619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43400" y="137160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1371600"/>
            <a:ext cx="73152" cy="438912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1517904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服装关联首饰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1938528"/>
            <a:ext cx="3108960" cy="36758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胸针、领饰、盘扣式饰件、腰饰。观察固定方式及对面料的影响。</a:t>
            </a:r>
          </a:p>
        </p:txBody>
      </p:sp>
      <p:sp>
        <p:nvSpPr>
          <p:cNvPr id="21" name="Oval 20"/>
          <p:cNvSpPr/>
          <p:nvPr/>
        </p:nvSpPr>
        <p:spPr>
          <a:xfrm>
            <a:off x="7507224" y="153619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137160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1371600"/>
            <a:ext cx="73152" cy="438912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1517904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B18B45"/>
                </a:solidFill>
                <a:latin typeface="Microsoft YaHei"/>
              </a:rPr>
              <a:t>可转换配饰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1938528"/>
            <a:ext cx="3108960" cy="36758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发饰、包挂、可拆卸吊坠和模块化饰件。观察一件多用与组合逻辑。</a:t>
            </a:r>
          </a:p>
        </p:txBody>
      </p:sp>
      <p:sp>
        <p:nvSpPr>
          <p:cNvPr id="26" name="Oval 25"/>
          <p:cNvSpPr/>
          <p:nvPr/>
        </p:nvSpPr>
        <p:spPr>
          <a:xfrm>
            <a:off x="11210544" y="1536192"/>
            <a:ext cx="109728" cy="109728"/>
          </a:xfrm>
          <a:prstGeom prst="ellipse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20 产品样本编码表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建议采集不少于100件，固定采集日期与平台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23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77240" y="1417320"/>
          <a:ext cx="106070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8458200"/>
              </a:tblGrid>
              <a:tr h="7543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字段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记录内容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基础信息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编号、品牌、年份、平台、链接、采集日期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商业信息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品类、价格、材质标注、尺寸、重量、库存状态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设计信息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文化来源、造型方法、色彩、工艺、结构、对称性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使用信息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佩戴场景、搭配方式、可转换性、舒适度线索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传播信息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产品标题、故事文本、主视觉、评论高频词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914400" y="6016752"/>
            <a:ext cx="103327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050" b="1">
                <a:solidFill>
                  <a:srgbClr val="972D27"/>
                </a:solidFill>
                <a:latin typeface="Microsoft YaHei"/>
              </a:rPr>
              <a:t>平台点赞、收藏和评论只能代表该平台样本，不能写成全国消费者比例。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1069848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</a:rPr>
              <a:t>第三板块｜目标市场分析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80360"/>
            <a:ext cx="941832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700" b="0">
                <a:solidFill>
                  <a:srgbClr val="E7E0D0"/>
                </a:solidFill>
                <a:latin typeface="Microsoft YaHei"/>
              </a:rPr>
              <a:t>用问卷、访谈和观察验证消费者，而不是凭经验画像</a:t>
            </a:r>
          </a:p>
        </p:txBody>
      </p:sp>
      <p:sp>
        <p:nvSpPr>
          <p:cNvPr id="5" name="Rectangle 4"/>
          <p:cNvSpPr/>
          <p:nvPr/>
        </p:nvSpPr>
        <p:spPr>
          <a:xfrm>
            <a:off x="5074920" y="3794760"/>
            <a:ext cx="2011680" cy="4572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914400"/>
            <a:ext cx="384048" cy="384048"/>
          </a:xfrm>
          <a:prstGeom prst="ellipse">
            <a:avLst/>
          </a:prstGeom>
          <a:noFill/>
          <a:ln w="1905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98480" y="1234440"/>
            <a:ext cx="256032" cy="256032"/>
          </a:xfrm>
          <a:prstGeom prst="ellipse">
            <a:avLst/>
          </a:prstGeom>
          <a:noFill/>
          <a:ln w="19050">
            <a:solidFill>
              <a:srgbClr val="97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966960" y="4983480"/>
            <a:ext cx="502920" cy="502920"/>
          </a:xfrm>
          <a:prstGeom prst="ellipse">
            <a:avLst/>
          </a:prstGeom>
          <a:noFill/>
          <a:ln w="19050">
            <a:solidFill>
              <a:srgbClr val="406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8760" y="5166360"/>
            <a:ext cx="219456" cy="219456"/>
          </a:xfrm>
          <a:prstGeom prst="ellipse">
            <a:avLst/>
          </a:prstGeom>
          <a:noFill/>
          <a:ln w="1905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62472" y="3840480"/>
            <a:ext cx="22860" cy="658368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amond 10"/>
          <p:cNvSpPr/>
          <p:nvPr/>
        </p:nvSpPr>
        <p:spPr>
          <a:xfrm>
            <a:off x="5870448" y="4416552"/>
            <a:ext cx="411480" cy="411480"/>
          </a:xfrm>
          <a:prstGeom prst="diamond">
            <a:avLst/>
          </a:prstGeom>
          <a:noFill/>
          <a:ln w="1905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21 目标消费者：先提出假设，再用调研验证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25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371600"/>
          <a:ext cx="1097280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297680"/>
                <a:gridCol w="4846320"/>
              </a:tblGrid>
              <a:tr h="78486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初步假设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验证方法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年龄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22—38岁为重点观察范围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问卷交叉分析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城市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一二线及文旅消费活跃城市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地域与渠道统计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兴趣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传统文化、博物馆、新中式服装、国货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兴趣与购买行为交叉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动机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日常搭配、节日礼赠、文化认同、情感表达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动机排序与访谈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顾虑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难搭配、过于传统、重量、价格、材质真假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负面因素多选与深访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22 消费场景：决定品类、尺寸、材料与价格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371600"/>
            <a:ext cx="26060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371600"/>
            <a:ext cx="73152" cy="438912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1517904"/>
            <a:ext cx="22402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40685B"/>
                </a:solidFill>
                <a:latin typeface="Microsoft YaHei"/>
              </a:rPr>
              <a:t>日常通勤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1938528"/>
            <a:ext cx="2240280" cy="36758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轻量、低干扰、易搭配；耳饰、胸针、项链与小型服装饰件。</a:t>
            </a:r>
          </a:p>
        </p:txBody>
      </p:sp>
      <p:sp>
        <p:nvSpPr>
          <p:cNvPr id="15" name="Oval 14"/>
          <p:cNvSpPr/>
          <p:nvPr/>
        </p:nvSpPr>
        <p:spPr>
          <a:xfrm>
            <a:off x="2935224" y="153619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01568" y="1371600"/>
            <a:ext cx="26060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371600"/>
            <a:ext cx="73152" cy="438912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2736" y="1517904"/>
            <a:ext cx="22402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社交出行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2736" y="1938528"/>
            <a:ext cx="2240280" cy="36758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需要视觉焦点和拍摄识别度；适合雕塑感与可组合设计。</a:t>
            </a:r>
          </a:p>
        </p:txBody>
      </p:sp>
      <p:sp>
        <p:nvSpPr>
          <p:cNvPr id="20" name="Oval 19"/>
          <p:cNvSpPr/>
          <p:nvPr/>
        </p:nvSpPr>
        <p:spPr>
          <a:xfrm>
            <a:off x="5696712" y="153619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63056" y="1371600"/>
            <a:ext cx="26060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1371600"/>
            <a:ext cx="73152" cy="438912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1517904"/>
            <a:ext cx="22402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B18B45"/>
                </a:solidFill>
                <a:latin typeface="Microsoft YaHei"/>
              </a:rPr>
              <a:t>节庆礼赠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1938528"/>
            <a:ext cx="2240280" cy="36758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重视寓意、包装、文化说明和品质证明。</a:t>
            </a:r>
          </a:p>
        </p:txBody>
      </p:sp>
      <p:sp>
        <p:nvSpPr>
          <p:cNvPr id="25" name="Oval 24"/>
          <p:cNvSpPr/>
          <p:nvPr/>
        </p:nvSpPr>
        <p:spPr>
          <a:xfrm>
            <a:off x="8458200" y="1536192"/>
            <a:ext cx="109728" cy="109728"/>
          </a:xfrm>
          <a:prstGeom prst="ellipse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24544" y="1371600"/>
            <a:ext cx="26060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24544" y="1371600"/>
            <a:ext cx="73152" cy="438912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5712" y="1517904"/>
            <a:ext cx="22402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收藏纪念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5712" y="1938528"/>
            <a:ext cx="2240280" cy="36758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重视工艺、限量、设计出处和长期保存。</a:t>
            </a:r>
          </a:p>
        </p:txBody>
      </p:sp>
      <p:sp>
        <p:nvSpPr>
          <p:cNvPr id="30" name="Oval 29"/>
          <p:cNvSpPr/>
          <p:nvPr/>
        </p:nvSpPr>
        <p:spPr>
          <a:xfrm>
            <a:off x="11219688" y="153619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23 价格带与产品逻辑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价格区间是调研框架，需用电商和门店样本修正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27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94360" y="1371600"/>
          <a:ext cx="109728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389120"/>
                <a:gridCol w="4572000"/>
              </a:tblGrid>
              <a:tr h="76962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价格带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产品特征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主要购买逻辑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100—399元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合金、银饰、文创配饰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尝试、潮流、冲动消费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400—999元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设计师银饰、珍珠、珐琅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设计感、日常佩戴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1,000—2,999元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品牌银饰、轻珠宝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品质、礼赠、品牌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3,000—9,999元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黄金、玉石、设计师珠宝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文化、材质与身份表达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10,000元以上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高端黄金、高级珠宝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收藏、礼赠、品牌认同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24 问卷方案｜不少于150份有效样本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输出接受度、偏好、价格和场景的交叉分析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298448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550">
                <a:solidFill>
                  <a:srgbClr val="232220"/>
                </a:solidFill>
                <a:latin typeface="Microsoft YaHei"/>
              </a:defRPr>
            </a:pPr>
            <a:r>
              <a:t>•  基本信息：年龄、城市、职业、收入区间、服饰消费频次。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50">
                <a:solidFill>
                  <a:srgbClr val="232220"/>
                </a:solidFill>
                <a:latin typeface="Microsoft YaHei"/>
              </a:defRPr>
            </a:pPr>
            <a:r>
              <a:t>•  认知行为：是否了解/购买过新中式首饰，购买渠道与最近一次消费。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50">
                <a:solidFill>
                  <a:srgbClr val="232220"/>
                </a:solidFill>
                <a:latin typeface="Microsoft YaHei"/>
              </a:defRPr>
            </a:pPr>
            <a:r>
              <a:t>•  设计偏好：品类、材料、色彩、造型抽象程度、传统工艺接受度。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50">
                <a:solidFill>
                  <a:srgbClr val="232220"/>
                </a:solidFill>
                <a:latin typeface="Microsoft YaHei"/>
              </a:defRPr>
            </a:pPr>
            <a:r>
              <a:t>•  价格测试：不同材料与品类的可接受价格区间。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50">
                <a:solidFill>
                  <a:srgbClr val="232220"/>
                </a:solidFill>
                <a:latin typeface="Microsoft YaHei"/>
              </a:defRPr>
            </a:pPr>
            <a:r>
              <a:t>•  使用场景：通勤、社交、节庆、礼赠、收藏。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50">
                <a:solidFill>
                  <a:srgbClr val="232220"/>
                </a:solidFill>
                <a:latin typeface="Microsoft YaHei"/>
              </a:defRPr>
            </a:pPr>
            <a:r>
              <a:t>•  障碍排序：难搭配、像古装道具、过重、价格高、材质真假、文化说明不足。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50">
                <a:solidFill>
                  <a:srgbClr val="232220"/>
                </a:solidFill>
                <a:latin typeface="Microsoft YaHei"/>
              </a:defRPr>
            </a:pPr>
            <a:r>
              <a:t>•  概念测试：给3—5组通用新中式风格板，进行偏好与原因选择。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25 访谈与门店观察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用质性资料解释问卷数字背后的原因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29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37160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371600"/>
            <a:ext cx="73152" cy="44805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517904"/>
            <a:ext cx="4937759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40685B"/>
                </a:solidFill>
                <a:latin typeface="Microsoft YaHei"/>
              </a:rPr>
              <a:t>半结构访谈｜8—12人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1938528"/>
            <a:ext cx="4937759" cy="37673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每人20—30分钟。
重点：如何理解新中式；什么会显得道具化；如何搭配日常服装；文化故事是否影响购买；对重量、尺寸、材料和价格的真实顾虑。</a:t>
            </a:r>
          </a:p>
        </p:txBody>
      </p:sp>
      <p:sp>
        <p:nvSpPr>
          <p:cNvPr id="16" name="Oval 15"/>
          <p:cNvSpPr/>
          <p:nvPr/>
        </p:nvSpPr>
        <p:spPr>
          <a:xfrm>
            <a:off x="5632704" y="153619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137160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371600"/>
            <a:ext cx="73152" cy="44805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1517904"/>
            <a:ext cx="4937759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门店观察｜6—10家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1938528"/>
            <a:ext cx="4937759" cy="37673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记录位置、价格带、品类数量、新中式陈列面积、文化系列数量、试戴行为、店员话术、包装说明、消费者停留与询问内容。</a:t>
            </a:r>
          </a:p>
        </p:txBody>
      </p:sp>
      <p:sp>
        <p:nvSpPr>
          <p:cNvPr id="21" name="Oval 20"/>
          <p:cNvSpPr/>
          <p:nvPr/>
        </p:nvSpPr>
        <p:spPr>
          <a:xfrm>
            <a:off x="11210544" y="153619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26 调研可信度控制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让实践过程可以被导师复核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30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1417320"/>
          <a:ext cx="1088136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686800"/>
              </a:tblGrid>
              <a:tr h="73914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风险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控制办法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便利样本偏差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至少覆盖两类城市、不同专业和收入区间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平台算法偏差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同日、同关键词、退出个性化账号或记录账号状态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品牌自我宣传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用年报、商品页、门店观察和消费者访谈交叉验证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概念诱导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先询问自然理解，再展示“新中式”定义与风格板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数据不可复核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保留原始问卷、录音授权、编码表、截图链接和采集日期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1069848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</a:rPr>
              <a:t>第四板块｜比较品牌研究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80360"/>
            <a:ext cx="941832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700" b="0">
                <a:solidFill>
                  <a:srgbClr val="E7E0D0"/>
                </a:solidFill>
                <a:latin typeface="Microsoft YaHei"/>
              </a:rPr>
              <a:t>选择不同定位的品牌，比较文化转化与商业路径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74920" y="3794760"/>
            <a:ext cx="2011680" cy="4572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914400"/>
            <a:ext cx="384048" cy="384048"/>
          </a:xfrm>
          <a:prstGeom prst="ellipse">
            <a:avLst/>
          </a:prstGeom>
          <a:noFill/>
          <a:ln w="1905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98480" y="1234440"/>
            <a:ext cx="256032" cy="256032"/>
          </a:xfrm>
          <a:prstGeom prst="ellipse">
            <a:avLst/>
          </a:prstGeom>
          <a:noFill/>
          <a:ln w="19050">
            <a:solidFill>
              <a:srgbClr val="97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966960" y="4983480"/>
            <a:ext cx="502920" cy="502920"/>
          </a:xfrm>
          <a:prstGeom prst="ellipse">
            <a:avLst/>
          </a:prstGeom>
          <a:noFill/>
          <a:ln w="19050">
            <a:solidFill>
              <a:srgbClr val="406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8760" y="5166360"/>
            <a:ext cx="219456" cy="219456"/>
          </a:xfrm>
          <a:prstGeom prst="ellipse">
            <a:avLst/>
          </a:prstGeom>
          <a:noFill/>
          <a:ln w="1905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62472" y="3840480"/>
            <a:ext cx="22860" cy="658368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amond 10"/>
          <p:cNvSpPr/>
          <p:nvPr/>
        </p:nvSpPr>
        <p:spPr>
          <a:xfrm>
            <a:off x="5870448" y="4416552"/>
            <a:ext cx="411480" cy="411480"/>
          </a:xfrm>
          <a:prstGeom prst="diamond">
            <a:avLst/>
          </a:prstGeom>
          <a:noFill/>
          <a:ln w="1905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27 品牌样本选择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不只比较相似黄金品牌，而要覆盖不同商业层级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32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5800" y="1417320"/>
          <a:ext cx="107899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017520"/>
                <a:gridCol w="5212080"/>
              </a:tblGrid>
              <a:tr h="8686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品牌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类型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研究价值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老铺黄金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高端传统工艺黄金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工艺叙事、文化空间、高溢价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周大福传承类产品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全国性珠宝品牌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规模化渠道、传统文化产品化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SHANG XIA 上下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当代东方生活方式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东方审美的现代化和国际表达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HEFANG Jewelry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年轻设计师首饰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时尚传播、日常佩戴、年轻客群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77240" y="5925312"/>
            <a:ext cx="106070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100" b="1">
                <a:solidFill>
                  <a:srgbClr val="972D27"/>
                </a:solidFill>
                <a:latin typeface="Microsoft YaHei"/>
              </a:rPr>
              <a:t>说明：本阶段比较品牌方法与市场定位，不选择与论文具体纹样题材直接重合的案例，避免提前进入毕业设计。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28 品牌案例｜老铺黄金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传统工艺、高端空间与文化溢价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10789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720" b="0">
                <a:solidFill>
                  <a:srgbClr val="6A6760"/>
                </a:solidFill>
                <a:latin typeface="Microsoft YaHei"/>
              </a:rPr>
              <a:t>资料来源：老铺黄金股份有限公司：《2024年年度报告》，香港交易所披露易，股份代号06181，https://www.hkexnews.hk/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33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1371600"/>
            <a:ext cx="73152" cy="448056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1517904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B18B45"/>
                </a:solidFill>
                <a:latin typeface="Microsoft YaHei"/>
              </a:rPr>
              <a:t>公开经营信号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1938528"/>
            <a:ext cx="3108960" cy="37673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据公司2024年年度报告：营业收入约85.1亿元，同比增长约167.5%；经调整净利润约14.7亿元，同比增长约254%。</a:t>
            </a:r>
          </a:p>
        </p:txBody>
      </p:sp>
      <p:sp>
        <p:nvSpPr>
          <p:cNvPr id="17" name="Oval 16"/>
          <p:cNvSpPr/>
          <p:nvPr/>
        </p:nvSpPr>
        <p:spPr>
          <a:xfrm>
            <a:off x="3803904" y="1536192"/>
            <a:ext cx="109728" cy="109728"/>
          </a:xfrm>
          <a:prstGeom prst="ellipse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43400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371600"/>
            <a:ext cx="73152" cy="44805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1517904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40685B"/>
                </a:solidFill>
                <a:latin typeface="Microsoft YaHei"/>
              </a:rPr>
              <a:t>研究重点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1938528"/>
            <a:ext cx="3108960" cy="37673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古法金工艺如何被标准化表达；门店空间与包装如何共同建立文化价值；按件定价如何弱化单纯克价比较。</a:t>
            </a:r>
          </a:p>
        </p:txBody>
      </p:sp>
      <p:sp>
        <p:nvSpPr>
          <p:cNvPr id="22" name="Oval 21"/>
          <p:cNvSpPr/>
          <p:nvPr/>
        </p:nvSpPr>
        <p:spPr>
          <a:xfrm>
            <a:off x="7507224" y="153619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0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1371600"/>
            <a:ext cx="73152" cy="44805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7888" y="1517904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不能直接推导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1938528"/>
            <a:ext cx="3108960" cy="37673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品牌增长不能全部归因于“新中式”；还受金价、门店扩张、客单价、渠道和品牌曝光影响。需结合年报解释。</a:t>
            </a:r>
          </a:p>
        </p:txBody>
      </p:sp>
      <p:sp>
        <p:nvSpPr>
          <p:cNvPr id="27" name="Oval 26"/>
          <p:cNvSpPr/>
          <p:nvPr/>
        </p:nvSpPr>
        <p:spPr>
          <a:xfrm>
            <a:off x="11210544" y="153619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29 品牌案例｜周大福传承类产品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全国渠道中的传统文化产品化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10789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720" b="0">
                <a:solidFill>
                  <a:srgbClr val="6A6760"/>
                </a:solidFill>
                <a:latin typeface="Microsoft YaHei"/>
              </a:rPr>
              <a:t>资料来源：周大福珠宝集团年度报告及投资者关系资料，https://ir.ctfjewellerygroup.com/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34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1371600"/>
            <a:ext cx="73152" cy="448056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1517904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B18B45"/>
                </a:solidFill>
                <a:latin typeface="Microsoft YaHei"/>
              </a:rPr>
              <a:t>观察对象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1938528"/>
            <a:ext cx="3108960" cy="37673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传承主题产品、传统工艺黄金、节庆礼赠系列及相关门店陈列。</a:t>
            </a:r>
          </a:p>
        </p:txBody>
      </p:sp>
      <p:sp>
        <p:nvSpPr>
          <p:cNvPr id="17" name="Oval 16"/>
          <p:cNvSpPr/>
          <p:nvPr/>
        </p:nvSpPr>
        <p:spPr>
          <a:xfrm>
            <a:off x="3803904" y="1536192"/>
            <a:ext cx="109728" cy="109728"/>
          </a:xfrm>
          <a:prstGeom prst="ellipse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43400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371600"/>
            <a:ext cx="73152" cy="44805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1517904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40685B"/>
                </a:solidFill>
                <a:latin typeface="Microsoft YaHei"/>
              </a:rPr>
              <a:t>研究重点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1938528"/>
            <a:ext cx="3108960" cy="37673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如何将传统文化语言转为规模化SKU；文化系列在主力品类、价位和渠道中的位置。</a:t>
            </a:r>
          </a:p>
        </p:txBody>
      </p:sp>
      <p:sp>
        <p:nvSpPr>
          <p:cNvPr id="22" name="Oval 21"/>
          <p:cNvSpPr/>
          <p:nvPr/>
        </p:nvSpPr>
        <p:spPr>
          <a:xfrm>
            <a:off x="7507224" y="153619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0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1371600"/>
            <a:ext cx="73152" cy="44805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7888" y="1517904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资料方法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1938528"/>
            <a:ext cx="3108960" cy="37673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以年度报告、官网、官方旗舰店和门店记录为证据；固定日期统计文化系列数量及价格分布。</a:t>
            </a:r>
          </a:p>
        </p:txBody>
      </p:sp>
      <p:sp>
        <p:nvSpPr>
          <p:cNvPr id="27" name="Oval 26"/>
          <p:cNvSpPr/>
          <p:nvPr/>
        </p:nvSpPr>
        <p:spPr>
          <a:xfrm>
            <a:off x="11210544" y="153619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30 品牌案例｜SHANG XIA 上下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当代东方审美与生活方式表达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10789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720" b="0">
                <a:solidFill>
                  <a:srgbClr val="6A6760"/>
                </a:solidFill>
                <a:latin typeface="Microsoft YaHei"/>
              </a:rPr>
              <a:t>资料来源：SHANG XIA上下品牌官网，https://www.shang-xia.com/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35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1371600"/>
            <a:ext cx="73152" cy="44805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1517904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40685B"/>
                </a:solidFill>
                <a:latin typeface="Microsoft YaHei"/>
              </a:rPr>
              <a:t>品牌特点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1938528"/>
            <a:ext cx="3108960" cy="37673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不依赖传统符号堆叠，而通过材料、比例、留白、触感和空间叙事形成东方气质。</a:t>
            </a:r>
          </a:p>
        </p:txBody>
      </p:sp>
      <p:sp>
        <p:nvSpPr>
          <p:cNvPr id="17" name="Oval 16"/>
          <p:cNvSpPr/>
          <p:nvPr/>
        </p:nvSpPr>
        <p:spPr>
          <a:xfrm>
            <a:off x="3803904" y="153619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43400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371600"/>
            <a:ext cx="73152" cy="448056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1517904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B18B45"/>
                </a:solidFill>
                <a:latin typeface="Microsoft YaHei"/>
              </a:rPr>
              <a:t>研究重点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1938528"/>
            <a:ext cx="3108960" cy="37673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传统文化如何被抽象化；首饰与服装、家居及品牌空间如何保持统一视觉语言。</a:t>
            </a:r>
          </a:p>
        </p:txBody>
      </p:sp>
      <p:sp>
        <p:nvSpPr>
          <p:cNvPr id="22" name="Oval 21"/>
          <p:cNvSpPr/>
          <p:nvPr/>
        </p:nvSpPr>
        <p:spPr>
          <a:xfrm>
            <a:off x="7507224" y="1536192"/>
            <a:ext cx="109728" cy="109728"/>
          </a:xfrm>
          <a:prstGeom prst="ellipse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0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1371600"/>
            <a:ext cx="73152" cy="44805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7888" y="1517904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设计启示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1938528"/>
            <a:ext cx="3108960" cy="37673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“文化识别”可以来自结构与意境，不必依赖直接图案复制；适合研究当代转化程度。</a:t>
            </a:r>
          </a:p>
        </p:txBody>
      </p:sp>
      <p:sp>
        <p:nvSpPr>
          <p:cNvPr id="27" name="Oval 26"/>
          <p:cNvSpPr/>
          <p:nvPr/>
        </p:nvSpPr>
        <p:spPr>
          <a:xfrm>
            <a:off x="11210544" y="153619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31 品牌案例｜HEFANG Jewelry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年轻客群、社交传播与日常佩戴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10789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720" b="0">
                <a:solidFill>
                  <a:srgbClr val="6A6760"/>
                </a:solidFill>
                <a:latin typeface="Microsoft YaHei"/>
              </a:rPr>
              <a:t>资料来源：HEFANG Jewelry品牌官网及官方旗舰店（产品、价格与传播样本须记录采集日期）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36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1371600"/>
            <a:ext cx="73152" cy="44805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1517904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品牌特点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1938528"/>
            <a:ext cx="3108960" cy="37673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以轻珠宝和时尚首饰为主，造型识别清晰、传播视觉完整，适合观察年轻女性消费场景。</a:t>
            </a:r>
          </a:p>
        </p:txBody>
      </p:sp>
      <p:sp>
        <p:nvSpPr>
          <p:cNvPr id="17" name="Oval 16"/>
          <p:cNvSpPr/>
          <p:nvPr/>
        </p:nvSpPr>
        <p:spPr>
          <a:xfrm>
            <a:off x="3803904" y="153619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43400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371600"/>
            <a:ext cx="73152" cy="44805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1517904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40685B"/>
                </a:solidFill>
                <a:latin typeface="Microsoft YaHei"/>
              </a:rPr>
              <a:t>研究重点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1938528"/>
            <a:ext cx="3108960" cy="37673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价格带、明星及社交媒体传播、轻量化结构、日常搭配和礼赠包装。</a:t>
            </a:r>
          </a:p>
        </p:txBody>
      </p:sp>
      <p:sp>
        <p:nvSpPr>
          <p:cNvPr id="22" name="Oval 21"/>
          <p:cNvSpPr/>
          <p:nvPr/>
        </p:nvSpPr>
        <p:spPr>
          <a:xfrm>
            <a:off x="7507224" y="153619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0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1371600"/>
            <a:ext cx="73152" cy="448056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7888" y="1517904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B18B45"/>
                </a:solidFill>
                <a:latin typeface="Microsoft YaHei"/>
              </a:rPr>
              <a:t>数据要求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1938528"/>
            <a:ext cx="3108960" cy="37673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官网和旗舰店样本必须记录采集日期；平台销量、评论和收藏不可跨平台直接比较。</a:t>
            </a:r>
          </a:p>
        </p:txBody>
      </p:sp>
      <p:sp>
        <p:nvSpPr>
          <p:cNvPr id="27" name="Oval 26"/>
          <p:cNvSpPr/>
          <p:nvPr/>
        </p:nvSpPr>
        <p:spPr>
          <a:xfrm>
            <a:off x="11210544" y="1536192"/>
            <a:ext cx="109728" cy="109728"/>
          </a:xfrm>
          <a:prstGeom prst="ellipse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32 品牌比较矩阵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建议用同一套尺度评分，并附原始依据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37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1325880"/>
          <a:ext cx="1120140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377440"/>
                <a:gridCol w="2377440"/>
              </a:tblGrid>
              <a:tr h="672737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老铺黄金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周大福传承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SHANG XIA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HEFANG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文化识别度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较高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中—高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现代设计程度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日常佩戴性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中—高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工艺叙事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价格亲和力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中—高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72738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传播年轻化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31520" y="6080760"/>
            <a:ext cx="10698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950" b="1">
                <a:solidFill>
                  <a:srgbClr val="972D27"/>
                </a:solidFill>
                <a:latin typeface="Microsoft YaHei"/>
              </a:rPr>
              <a:t>注：表中为待验证的初步判断，正式汇报应在每一评分后附产品样本、价格、年报或门店观察证据。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33 “品牌国风设计增减”如何形成真实数据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品牌通常不公开“新中式SKU数量”，需建立可复核代理指标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38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94360" y="1325880"/>
          <a:ext cx="1097280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686800"/>
              </a:tblGrid>
              <a:tr h="698862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代理指标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操作方式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文化系列数量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固定每年同一月份，统计官网明确标注文化主题的系列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相关SKU数量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统一关键词与品类，去重后记录在售产品数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价格变化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记录同品牌同材料的中位价格和价格区间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传播投入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统计官方公众号/微博相关主题发布数，不使用非官方转载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渠道变化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从年报提取门店数、重点门店及新开文化主题空间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98868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文本变化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统计年报中“文化、传承、古法、国潮”等词频，并人工核读语境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34 初步机会与问题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为后续设计实践提出需要验证的方向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39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325880"/>
            <a:ext cx="3474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325880"/>
            <a:ext cx="73152" cy="452628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472184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40685B"/>
                </a:solidFill>
                <a:latin typeface="Microsoft YaHei"/>
              </a:rPr>
              <a:t>机会一｜日常化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1892807"/>
            <a:ext cx="3108960" cy="3813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传统文化识别度与通勤佩戴兼容：轻量、小体量、低勾挂、可与现代服装搭配。</a:t>
            </a:r>
          </a:p>
        </p:txBody>
      </p:sp>
      <p:sp>
        <p:nvSpPr>
          <p:cNvPr id="16" name="Oval 15"/>
          <p:cNvSpPr/>
          <p:nvPr/>
        </p:nvSpPr>
        <p:spPr>
          <a:xfrm>
            <a:off x="3803904" y="149047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43400" y="1325880"/>
            <a:ext cx="3474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1325880"/>
            <a:ext cx="73152" cy="452628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1472184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B18B45"/>
                </a:solidFill>
                <a:latin typeface="Microsoft YaHei"/>
              </a:rPr>
              <a:t>机会二｜结构化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1892807"/>
            <a:ext cx="3108960" cy="3813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从图案复制转向连接、开合、悬挂、模块与可转换结构，提高设计深度。</a:t>
            </a:r>
          </a:p>
        </p:txBody>
      </p:sp>
      <p:sp>
        <p:nvSpPr>
          <p:cNvPr id="21" name="Oval 20"/>
          <p:cNvSpPr/>
          <p:nvPr/>
        </p:nvSpPr>
        <p:spPr>
          <a:xfrm>
            <a:off x="7507224" y="1490472"/>
            <a:ext cx="109728" cy="109728"/>
          </a:xfrm>
          <a:prstGeom prst="ellipse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1325880"/>
            <a:ext cx="3474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1325880"/>
            <a:ext cx="73152" cy="452628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1472184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机会三｜证据化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1892807"/>
            <a:ext cx="3108960" cy="3813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把文化出处、工艺过程、材料和使用方式转成清晰产品说明，减少空泛“东方感”。</a:t>
            </a:r>
          </a:p>
        </p:txBody>
      </p:sp>
      <p:sp>
        <p:nvSpPr>
          <p:cNvPr id="26" name="Oval 25"/>
          <p:cNvSpPr/>
          <p:nvPr/>
        </p:nvSpPr>
        <p:spPr>
          <a:xfrm>
            <a:off x="11210544" y="149047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989320"/>
            <a:ext cx="10744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100" b="1">
                <a:solidFill>
                  <a:srgbClr val="972D27"/>
                </a:solidFill>
                <a:latin typeface="Microsoft YaHei"/>
              </a:rPr>
              <a:t>核心矛盾：文化辨识度越强，越可能显得道具化；现代化程度越高，又可能失去文化依据。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35 实践调研与实物验证计划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在进入毕业设计题材前，先验证产品类型和使用逻辑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40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1280160"/>
          <a:ext cx="1120140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486400"/>
                <a:gridCol w="4251960"/>
              </a:tblGrid>
              <a:tr h="71192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任务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输出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第1周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政策、行业报告和秀场资料整理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资料卡与引用表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第2周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100件产品样本编码、4个品牌研究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元素矩阵与品牌矩阵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第3周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问卷、访谈、门店观察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统计图、访谈编码、观察日志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第4周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制作3组非题材化结构样件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尺寸、重量、连接方式测试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第5周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组织10—15人试戴评价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舒适度、搭配性、偏好与问题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1193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第6周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综合修正并确定后续方向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调研报告与设计约束清单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36 本阶段最终成果清单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让导师能看到“调查—分析—实践—验证”的完整工作量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371600"/>
            <a:ext cx="105156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232220"/>
                </a:solidFill>
                <a:latin typeface="Microsoft YaHei"/>
              </a:defRPr>
            </a:pPr>
            <a:r>
              <a:t>•  1份2025—2026全球首饰趋势资料库与来源表。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232220"/>
                </a:solidFill>
                <a:latin typeface="Microsoft YaHei"/>
              </a:defRPr>
            </a:pPr>
            <a:r>
              <a:t>•  1份中国政策和行业数据卡片，区分政策原文、行业总量与细分判断。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232220"/>
                </a:solidFill>
                <a:latin typeface="Microsoft YaHei"/>
              </a:defRPr>
            </a:pPr>
            <a:r>
              <a:t>•  不少于100件新中式首饰产品编码表。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232220"/>
                </a:solidFill>
                <a:latin typeface="Microsoft YaHei"/>
              </a:defRPr>
            </a:pPr>
            <a:r>
              <a:t>•  不少于150份有效问卷、8—12份访谈、6—10家门店观察记录。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232220"/>
                </a:solidFill>
                <a:latin typeface="Microsoft YaHei"/>
              </a:defRPr>
            </a:pPr>
            <a:r>
              <a:t>•  4个代表品牌的统一维度比较矩阵。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232220"/>
                </a:solidFill>
                <a:latin typeface="Microsoft YaHei"/>
              </a:defRPr>
            </a:pPr>
            <a:r>
              <a:t>•  3组不涉及具体毕业设计题材的结构/材料样件及10—15人试戴记录。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232220"/>
                </a:solidFill>
                <a:latin typeface="Microsoft YaHei"/>
              </a:defRPr>
            </a:pPr>
            <a:r>
              <a:t>•  1份市场机会、设计约束和后续研究衔接结论。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37 结论：这次调研要证明什么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先验证方向，再进入清代织绣纹样与毕业设计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371600"/>
            <a:ext cx="10241280" cy="8229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2200" b="1">
                <a:solidFill>
                  <a:srgbClr val="972D27"/>
                </a:solidFill>
                <a:latin typeface="Microsoft YaHei"/>
              </a:rPr>
              <a:t>新中式首饰是否具有现实市场环境、可识别的设计语言、明确消费者和可执行的产品路径。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43200"/>
            <a:ext cx="33832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743200"/>
            <a:ext cx="73152" cy="246888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889504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40685B"/>
                </a:solidFill>
                <a:latin typeface="Microsoft YaHei"/>
              </a:rPr>
              <a:t>市场层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310128"/>
            <a:ext cx="3017520" cy="1755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政策、行业与品牌证据说明这一方向是否成立。</a:t>
            </a:r>
          </a:p>
        </p:txBody>
      </p:sp>
      <p:sp>
        <p:nvSpPr>
          <p:cNvPr id="17" name="Oval 16"/>
          <p:cNvSpPr/>
          <p:nvPr/>
        </p:nvSpPr>
        <p:spPr>
          <a:xfrm>
            <a:off x="3803904" y="290779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07408" y="2743200"/>
            <a:ext cx="33832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07408" y="2743200"/>
            <a:ext cx="73152" cy="246888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8576" y="2889504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B18B45"/>
                </a:solidFill>
                <a:latin typeface="Microsoft YaHei"/>
              </a:rPr>
              <a:t>用户层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3310128"/>
            <a:ext cx="3017520" cy="1755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问卷、访谈和观察说明消费者真正接受什么。</a:t>
            </a:r>
          </a:p>
        </p:txBody>
      </p:sp>
      <p:sp>
        <p:nvSpPr>
          <p:cNvPr id="22" name="Oval 21"/>
          <p:cNvSpPr/>
          <p:nvPr/>
        </p:nvSpPr>
        <p:spPr>
          <a:xfrm>
            <a:off x="7479792" y="2907792"/>
            <a:ext cx="109728" cy="109728"/>
          </a:xfrm>
          <a:prstGeom prst="ellipse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83296" y="2743200"/>
            <a:ext cx="33832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83296" y="2743200"/>
            <a:ext cx="73152" cy="246888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84464" y="2889504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设计层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4464" y="3310128"/>
            <a:ext cx="3017520" cy="1755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样本编码和试戴说明哪些结构、材料、品类可进入后续实践。</a:t>
            </a:r>
          </a:p>
        </p:txBody>
      </p:sp>
      <p:sp>
        <p:nvSpPr>
          <p:cNvPr id="27" name="Oval 26"/>
          <p:cNvSpPr/>
          <p:nvPr/>
        </p:nvSpPr>
        <p:spPr>
          <a:xfrm>
            <a:off x="11155680" y="290779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38 2025—2026资讯证据卡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每条新闻或趋势都用同一格式记录，避免只做图片拼贴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43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1325880"/>
          <a:ext cx="112014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3886200"/>
                <a:gridCol w="5897880"/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字段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记录要求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示例写法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事件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发布主体＋事件名称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某机构发布年度趋势报告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精确到年月日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2025年3月16日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事实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只写原文可验证内容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文件提出丰富优质消费品供给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关联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解释与新中式首饰的关系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为文化消费品创新提供宏观环境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限制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说明不能推出什么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不能据此宣称新中式首饰销量增长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来源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原始链接＋访问日期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政府官网/年报/行业报告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31520" y="6062472"/>
            <a:ext cx="10698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050" b="1">
                <a:solidFill>
                  <a:srgbClr val="972D27"/>
                </a:solidFill>
                <a:latin typeface="Microsoft YaHei"/>
              </a:rPr>
              <a:t>建议每条资讯保留网页截图，统一编号为N01、N02……，在PPT和资料表中互相对应。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39 三类目标消费者画像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画像是调研假设，问卷与访谈后再保留、合并或删除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44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298448"/>
            <a:ext cx="3611880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298448"/>
            <a:ext cx="73152" cy="461772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1444751"/>
            <a:ext cx="32461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600" b="1">
                <a:solidFill>
                  <a:srgbClr val="972D27"/>
                </a:solidFill>
                <a:latin typeface="Microsoft YaHei"/>
              </a:rPr>
              <a:t>A｜日常审美型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1865376"/>
            <a:ext cx="3246120" cy="39044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年龄假设：22—30岁
场景：通勤、约会、社交平台分享
关注：轻量、搭配、设计感、价格
渠道：小红书、天猫、品牌小程序
风险：觉得传统元素“太正式”</a:t>
            </a:r>
          </a:p>
        </p:txBody>
      </p:sp>
      <p:sp>
        <p:nvSpPr>
          <p:cNvPr id="16" name="Oval 15"/>
          <p:cNvSpPr/>
          <p:nvPr/>
        </p:nvSpPr>
        <p:spPr>
          <a:xfrm>
            <a:off x="3803904" y="1463039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97680" y="1298448"/>
            <a:ext cx="3611880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298448"/>
            <a:ext cx="73152" cy="461772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8848" y="1444751"/>
            <a:ext cx="32461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600" b="1">
                <a:solidFill>
                  <a:srgbClr val="40685B"/>
                </a:solidFill>
                <a:latin typeface="Microsoft YaHei"/>
              </a:rPr>
              <a:t>B｜文化兴趣型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1865376"/>
            <a:ext cx="3246120" cy="39044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年龄假设：25—38岁
场景：展览、旅行、节庆、文化活动
关注：文化出处、工艺、故事完整性
渠道：博物馆商店、设计师品牌、门店
风险：反感符号拼贴和文化误读</a:t>
            </a:r>
          </a:p>
        </p:txBody>
      </p:sp>
      <p:sp>
        <p:nvSpPr>
          <p:cNvPr id="21" name="Oval 20"/>
          <p:cNvSpPr/>
          <p:nvPr/>
        </p:nvSpPr>
        <p:spPr>
          <a:xfrm>
            <a:off x="7598664" y="1463039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92440" y="1298448"/>
            <a:ext cx="3611880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440" y="1298448"/>
            <a:ext cx="73152" cy="461772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8" y="1444751"/>
            <a:ext cx="32461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600" b="1">
                <a:solidFill>
                  <a:srgbClr val="B18B45"/>
                </a:solidFill>
                <a:latin typeface="Microsoft YaHei"/>
              </a:rPr>
              <a:t>C｜品质礼赠型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1865376"/>
            <a:ext cx="3246120" cy="39044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年龄假设：30—45岁
场景：节庆、纪念日、商务礼赠
关注：材质证明、包装、品牌与售后
渠道：品牌门店、百货、官方商城
风险：担心设计感不足或保值逻辑不清</a:t>
            </a:r>
          </a:p>
        </p:txBody>
      </p:sp>
      <p:sp>
        <p:nvSpPr>
          <p:cNvPr id="26" name="Oval 25"/>
          <p:cNvSpPr/>
          <p:nvPr/>
        </p:nvSpPr>
        <p:spPr>
          <a:xfrm>
            <a:off x="11393424" y="1463039"/>
            <a:ext cx="109728" cy="109728"/>
          </a:xfrm>
          <a:prstGeom prst="ellipse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40 品牌定位二维图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用“文化表达方式×价格层级”观察竞争空位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45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5166360"/>
            <a:ext cx="8869680" cy="27432"/>
          </a:xfrm>
          <a:prstGeom prst="rect">
            <a:avLst/>
          </a:prstGeom>
          <a:solidFill>
            <a:srgbClr val="23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54480" y="1417320"/>
            <a:ext cx="27432" cy="3749039"/>
          </a:xfrm>
          <a:prstGeom prst="rect">
            <a:avLst/>
          </a:prstGeom>
          <a:solidFill>
            <a:srgbClr val="23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280160"/>
            <a:ext cx="7315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00" b="1">
                <a:solidFill>
                  <a:srgbClr val="6A6760"/>
                </a:solidFill>
                <a:latin typeface="Microsoft YaHei"/>
              </a:rPr>
              <a:t>高价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983480"/>
            <a:ext cx="7315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00" b="1">
                <a:solidFill>
                  <a:srgbClr val="6A6760"/>
                </a:solidFill>
                <a:latin typeface="Microsoft YaHei"/>
              </a:rPr>
              <a:t>亲民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5349240"/>
            <a:ext cx="21945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00" b="1">
                <a:solidFill>
                  <a:srgbClr val="6A6760"/>
                </a:solidFill>
                <a:latin typeface="Microsoft YaHei"/>
              </a:rPr>
              <a:t>符号/工艺直观表达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5349240"/>
            <a:ext cx="22860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00" b="1">
                <a:solidFill>
                  <a:srgbClr val="6A6760"/>
                </a:solidFill>
                <a:latin typeface="Microsoft YaHei"/>
              </a:rPr>
              <a:t>抽象/当代表达</a:t>
            </a:r>
          </a:p>
        </p:txBody>
      </p:sp>
      <p:sp>
        <p:nvSpPr>
          <p:cNvPr id="18" name="Oval 17"/>
          <p:cNvSpPr/>
          <p:nvPr/>
        </p:nvSpPr>
        <p:spPr>
          <a:xfrm>
            <a:off x="2834640" y="1828800"/>
            <a:ext cx="347472" cy="347472"/>
          </a:xfrm>
          <a:prstGeom prst="ellipse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1801368"/>
            <a:ext cx="15087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00" b="1">
                <a:solidFill>
                  <a:srgbClr val="232220"/>
                </a:solidFill>
                <a:latin typeface="Microsoft YaHei"/>
              </a:rPr>
              <a:t>老铺黄金</a:t>
            </a:r>
          </a:p>
        </p:txBody>
      </p:sp>
      <p:sp>
        <p:nvSpPr>
          <p:cNvPr id="20" name="Oval 19"/>
          <p:cNvSpPr/>
          <p:nvPr/>
        </p:nvSpPr>
        <p:spPr>
          <a:xfrm>
            <a:off x="4160520" y="2880360"/>
            <a:ext cx="347472" cy="347472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852928"/>
            <a:ext cx="15087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00" b="1">
                <a:solidFill>
                  <a:srgbClr val="232220"/>
                </a:solidFill>
                <a:latin typeface="Microsoft YaHei"/>
              </a:rPr>
              <a:t>周大福传承</a:t>
            </a:r>
          </a:p>
        </p:txBody>
      </p:sp>
      <p:sp>
        <p:nvSpPr>
          <p:cNvPr id="22" name="Oval 21"/>
          <p:cNvSpPr/>
          <p:nvPr/>
        </p:nvSpPr>
        <p:spPr>
          <a:xfrm>
            <a:off x="8595360" y="2423160"/>
            <a:ext cx="347472" cy="347472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40" y="2395728"/>
            <a:ext cx="15087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00" b="1">
                <a:solidFill>
                  <a:srgbClr val="232220"/>
                </a:solidFill>
                <a:latin typeface="Microsoft YaHei"/>
              </a:rPr>
              <a:t>SHANG XIA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0" y="3977639"/>
            <a:ext cx="347472" cy="347472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1080" y="3950207"/>
            <a:ext cx="15087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00" b="1">
                <a:solidFill>
                  <a:srgbClr val="232220"/>
                </a:solidFill>
                <a:latin typeface="Microsoft YaHei"/>
              </a:rPr>
              <a:t>HEFANG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5925312"/>
            <a:ext cx="8503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050" b="1">
                <a:solidFill>
                  <a:srgbClr val="972D27"/>
                </a:solidFill>
                <a:latin typeface="Microsoft YaHei"/>
              </a:rPr>
              <a:t>正式研究时的位置应由统一评分表决定；此图只展示比较方法，不把主观印象当成最终结果。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41 消费者接受度分析模型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把“喜不喜欢”拆成可测量变量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46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325880"/>
          <a:ext cx="1110996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486400"/>
                <a:gridCol w="352044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一级指标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二级问题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建议量表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视觉接受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造型、颜色、尺寸是否喜欢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1—5分语义差异量表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文化接受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能否理解、是否觉得真实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认知＋可信度评分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使用接受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舒适、搭配、场景和佩戴频率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试戴评分＋开放题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价值接受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价格、材质、工艺是否匹配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价格敏感度测试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传播接受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是否愿意收藏、分享或推荐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意愿评分＋原因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购买接受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是否购买、购买给谁、何时购买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情境选择＋价格区间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42 实物样件评价指标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先验证首饰作为产品是否成立，再讨论后续文化题材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47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325880"/>
            <a:ext cx="26060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1325880"/>
            <a:ext cx="73152" cy="452628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1472184"/>
            <a:ext cx="22402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600" b="1">
                <a:solidFill>
                  <a:srgbClr val="40685B"/>
                </a:solidFill>
                <a:latin typeface="Microsoft YaHei"/>
              </a:rPr>
              <a:t>佩戴性 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1892807"/>
            <a:ext cx="2240280" cy="3813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重量
皮肤接触
勾挂风险
活动稳定性
连续佩戴时长</a:t>
            </a:r>
          </a:p>
        </p:txBody>
      </p:sp>
      <p:sp>
        <p:nvSpPr>
          <p:cNvPr id="16" name="Oval 15"/>
          <p:cNvSpPr/>
          <p:nvPr/>
        </p:nvSpPr>
        <p:spPr>
          <a:xfrm>
            <a:off x="2889504" y="149047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01568" y="1325880"/>
            <a:ext cx="26060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1325880"/>
            <a:ext cx="73152" cy="452628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1472184"/>
            <a:ext cx="22402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600" b="1">
                <a:solidFill>
                  <a:srgbClr val="B18B45"/>
                </a:solidFill>
                <a:latin typeface="Microsoft YaHei"/>
              </a:rPr>
              <a:t>搭配性 25%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2736" y="1892807"/>
            <a:ext cx="2240280" cy="3813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通勤服装
新中式服装
正式场合
不同领型
一件多用</a:t>
            </a:r>
          </a:p>
        </p:txBody>
      </p:sp>
      <p:sp>
        <p:nvSpPr>
          <p:cNvPr id="21" name="Oval 20"/>
          <p:cNvSpPr/>
          <p:nvPr/>
        </p:nvSpPr>
        <p:spPr>
          <a:xfrm>
            <a:off x="5696712" y="1490472"/>
            <a:ext cx="109728" cy="109728"/>
          </a:xfrm>
          <a:prstGeom prst="ellipse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08776" y="1325880"/>
            <a:ext cx="26060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08776" y="1325880"/>
            <a:ext cx="73152" cy="452628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1472184"/>
            <a:ext cx="22402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600" b="1">
                <a:solidFill>
                  <a:srgbClr val="972D27"/>
                </a:solidFill>
                <a:latin typeface="Microsoft YaHei"/>
              </a:rPr>
              <a:t>审美性 25%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1892807"/>
            <a:ext cx="2240280" cy="3813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轮廓识别
比例节奏
色彩材料
精致程度
拍摄效果</a:t>
            </a:r>
          </a:p>
        </p:txBody>
      </p:sp>
      <p:sp>
        <p:nvSpPr>
          <p:cNvPr id="26" name="Oval 25"/>
          <p:cNvSpPr/>
          <p:nvPr/>
        </p:nvSpPr>
        <p:spPr>
          <a:xfrm>
            <a:off x="8503920" y="1490472"/>
            <a:ext cx="109728" cy="109728"/>
          </a:xfrm>
          <a:prstGeom prst="ellipse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15984" y="1325880"/>
            <a:ext cx="26060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15984" y="1325880"/>
            <a:ext cx="73152" cy="452628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17152" y="1472184"/>
            <a:ext cx="22402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600" b="1">
                <a:solidFill>
                  <a:srgbClr val="40685B"/>
                </a:solidFill>
                <a:latin typeface="Microsoft YaHei"/>
              </a:rPr>
              <a:t>制作性 25%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17152" y="1892807"/>
            <a:ext cx="2240280" cy="3813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结构强度
加工难度
材料成本
维修替换
小批量可行性</a:t>
            </a:r>
          </a:p>
        </p:txBody>
      </p:sp>
      <p:sp>
        <p:nvSpPr>
          <p:cNvPr id="31" name="Oval 30"/>
          <p:cNvSpPr/>
          <p:nvPr/>
        </p:nvSpPr>
        <p:spPr>
          <a:xfrm>
            <a:off x="11311128" y="1490472"/>
            <a:ext cx="109728" cy="109728"/>
          </a:xfrm>
          <a:prstGeom prst="ellipse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989320"/>
            <a:ext cx="99669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050" b="1">
                <a:solidFill>
                  <a:srgbClr val="972D27"/>
                </a:solidFill>
                <a:latin typeface="Microsoft YaHei"/>
              </a:rPr>
              <a:t>每项使用1—5分量表，并记录试戴者原话；平均分之外还要分析低分原因。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43 汇报讲述路线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控制在18—22分钟，突出证据与实践工作量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48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5800" y="1371600"/>
          <a:ext cx="107899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743200"/>
                <a:gridCol w="6583680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内容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讲述重点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2分钟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研究边界与方法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为什么先做市场调研，不进入具体题材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4分钟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全球与中国资讯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政策、行业数据、趋势来源及其限制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4分钟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流行元素采集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100件样本如何编码和统计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4分钟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目标市场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问卷、访谈、门店观察如何相互验证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4分钟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品牌比较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不同定位与文化转化路径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3分钟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实践计划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样件、试戴、评价指标与预期成果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914400" y="6016752"/>
            <a:ext cx="103327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050" b="1">
                <a:solidFill>
                  <a:srgbClr val="972D27"/>
                </a:solidFill>
                <a:latin typeface="Microsoft YaHei"/>
              </a:rPr>
              <a:t>答辩表达重点：哪些是已确认事实、哪些是初步假设、哪些将在下一步实践中验证。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附录A｜主要政策与行业资料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全部资料可通过标题、发布机构或网址检索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25880"/>
            <a:ext cx="109728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230">
                <a:solidFill>
                  <a:srgbClr val="232220"/>
                </a:solidFill>
                <a:latin typeface="Microsoft YaHei"/>
              </a:defRPr>
            </a:pPr>
            <a:r>
              <a:t>•  中共中央办公厅、国务院办公厅：《提振消费专项行动方案》，2025-03，中国政府网 https://www.gov.cn/zhengce/202503/content_7013809.htm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30">
                <a:solidFill>
                  <a:srgbClr val="232220"/>
                </a:solidFill>
                <a:latin typeface="Microsoft YaHei"/>
              </a:defRPr>
            </a:pPr>
            <a:r>
              <a:t>•  国务院办公厅：《关于进一步培育新增长点繁荣文化和旅游消费的若干措施》，国办发〔2025〕2号，中国政府网 https://www.gov.cn/zhengce/content/202501/content_6999915.htm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30">
                <a:solidFill>
                  <a:srgbClr val="232220"/>
                </a:solidFill>
                <a:latin typeface="Microsoft YaHei"/>
              </a:defRPr>
            </a:pPr>
            <a:r>
              <a:t>•  中国黄金协会：2024年及2025年上半年我国黄金产量、消费量统计，https://www.cngold.org.cn/（站内检索报告标题）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30">
                <a:solidFill>
                  <a:srgbClr val="232220"/>
                </a:solidFill>
                <a:latin typeface="Microsoft YaHei"/>
              </a:defRPr>
            </a:pPr>
            <a:r>
              <a:t>•  国家统计局：社会消费品零售总额月度/年度数据，“金银珠宝类”，https://www.stats.gov.cn/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30">
                <a:solidFill>
                  <a:srgbClr val="232220"/>
                </a:solidFill>
                <a:latin typeface="Microsoft YaHei"/>
              </a:defRPr>
            </a:pPr>
            <a:r>
              <a:t>•  World Gold Council, Gold Demand Trends, https://www.gold.org/goldhub/research/gold-demand-trends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30">
                <a:solidFill>
                  <a:srgbClr val="232220"/>
                </a:solidFill>
                <a:latin typeface="Microsoft YaHei"/>
              </a:defRPr>
            </a:pPr>
            <a:r>
              <a:t>•  McKinsey &amp; BoF, The State of Fashion 2025, https://www.mckinsey.com/industries/retail/our-insights/state-of-fashion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附录B｜趋势与品牌资料入口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品牌商品样本应补充访问日期和截图编号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25880"/>
            <a:ext cx="109728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230">
                <a:solidFill>
                  <a:srgbClr val="232220"/>
                </a:solidFill>
                <a:latin typeface="Microsoft YaHei"/>
              </a:defRPr>
            </a:pPr>
            <a:r>
              <a:t>•  Vogue Runway，2025 S/S、2025 A/W、2026 S/S秀场资料，https://www.vogue.com/fashion-shows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30">
                <a:solidFill>
                  <a:srgbClr val="232220"/>
                </a:solidFill>
                <a:latin typeface="Microsoft YaHei"/>
              </a:defRPr>
            </a:pPr>
            <a:r>
              <a:t>•  Pinterest Predicts 2025，https://business.pinterest.com/pinterest-predicts/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30">
                <a:solidFill>
                  <a:srgbClr val="232220"/>
                </a:solidFill>
                <a:latin typeface="Microsoft YaHei"/>
              </a:defRPr>
            </a:pPr>
            <a:r>
              <a:t>•  老铺黄金股份有限公司：《2024年年度报告》，香港交易所披露易，股份代号06181，https://www.hkexnews.hk/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30">
                <a:solidFill>
                  <a:srgbClr val="232220"/>
                </a:solidFill>
                <a:latin typeface="Microsoft YaHei"/>
              </a:defRPr>
            </a:pPr>
            <a:r>
              <a:t>•  周大福珠宝集团年度报告及投资者关系资料，https://ir.ctfjewellerygroup.com/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30">
                <a:solidFill>
                  <a:srgbClr val="232220"/>
                </a:solidFill>
                <a:latin typeface="Microsoft YaHei"/>
              </a:defRPr>
            </a:pPr>
            <a:r>
              <a:t>•  SHANG XIA上下品牌官网，https://www.shang-xia.com/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30">
                <a:solidFill>
                  <a:srgbClr val="232220"/>
                </a:solidFill>
                <a:latin typeface="Microsoft YaHei"/>
              </a:defRPr>
            </a:pPr>
            <a:r>
              <a:t>•  HEFANG Jewelry品牌官网及官方旗舰店（产品、价格与传播样本须记录采集日期）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502920"/>
            <a:ext cx="777240" cy="777240"/>
          </a:xfrm>
          <a:prstGeom prst="ellipse">
            <a:avLst/>
          </a:prstGeom>
          <a:noFill/>
          <a:ln w="15240"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37392" y="896112"/>
            <a:ext cx="310896" cy="310896"/>
          </a:xfrm>
          <a:prstGeom prst="ellipse">
            <a:avLst/>
          </a:prstGeom>
          <a:noFill/>
          <a:ln w="15240">
            <a:solidFill>
              <a:srgbClr val="B1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" y="5806440"/>
            <a:ext cx="566928" cy="566928"/>
          </a:xfrm>
          <a:prstGeom prst="ellipse">
            <a:avLst/>
          </a:prstGeom>
          <a:noFill/>
          <a:ln w="15240"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" y="1417320"/>
            <a:ext cx="22860" cy="4480560"/>
          </a:xfrm>
          <a:prstGeom prst="rect">
            <a:avLst/>
          </a:prstGeom>
          <a:solidFill>
            <a:srgbClr val="E7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附录C｜现场调研记录表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可直接打印或转为电子表单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51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1417320"/>
          <a:ext cx="112014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143000"/>
                <a:gridCol w="2011680"/>
                <a:gridCol w="2148840"/>
                <a:gridCol w="2011680"/>
                <a:gridCol w="1965960"/>
              </a:tblGrid>
              <a:tr h="6934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门店/平台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日期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品类与价格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文化表达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顾客行为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问题/证据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31520" y="5806440"/>
            <a:ext cx="10789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100" b="1">
                <a:solidFill>
                  <a:srgbClr val="972D27"/>
                </a:solidFill>
                <a:latin typeface="Microsoft YaHei"/>
              </a:rPr>
              <a:t>建议附件另建：产品编码.xlsx、问卷原始数据.xlsx、访谈编码.docx、图片来源清单.xlsx。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新中式国风首饰市场与设计趋势研究（2025—2026）</dc:title>
  <dc:subject>服装与服饰设计专业硕士实践调研</dc:subject>
  <dc:creator>OpenAI Codex（资料整理与版式辅助）</dc:creator>
  <cp:keywords>新中式首饰, 国风首饰, 市场调研, 流行趋势, 品牌研究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